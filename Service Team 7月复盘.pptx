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8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08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SALOMON 安福路 · Service Team</a:t>
            </a:r>
            <a:endParaRPr sz="1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F3329"/>
                </a:solidFill>
                <a:latin typeface="微软雅黑"/>
              </a:rPr>
              <a:t>Service Team 月度复盘</a:t>
            </a:r>
            <a:endParaRPr sz="4400" b="1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1155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86A1C"/>
                </a:solidFill>
                <a:latin typeface="Segoe UI"/>
              </a:rPr>
              <a:t>6月  →  7月</a:t>
            </a:r>
            <a:endParaRPr sz="2800" b="0">
              <a:solidFill>
                <a:srgbClr val="E86A1C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111556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B4D3A"/>
                </a:solidFill>
                <a:latin typeface="微软雅黑"/>
              </a:rPr>
              <a:t>季度奖惩 · 去留依据</a:t>
            </a:r>
            <a:endParaRPr sz="1800" b="0">
              <a:solidFill>
                <a:srgbClr val="1B4D3A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276975"/>
            <a:ext cx="11155680" cy="24765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微软雅黑"/>
              </a:rPr>
              <a:t> Service Team 1</a:t>
            </a:r>
            <a:r>
              <a:rPr lang="en-US" sz="1200" b="0">
                <a:solidFill>
                  <a:srgbClr val="FFFFFF"/>
                </a:solidFill>
                <a:latin typeface="微软雅黑"/>
              </a:rPr>
              <a:t>7</a:t>
            </a:r>
            <a:r>
              <a:rPr sz="1200" b="0">
                <a:solidFill>
                  <a:srgbClr val="FFFFFF"/>
                </a:solidFill>
                <a:latin typeface="微软雅黑"/>
              </a:rPr>
              <a:t> 人</a:t>
            </a:r>
            <a:endParaRPr sz="1200" b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594360" cy="594360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9436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01</a:t>
            </a:r>
            <a:endParaRPr sz="2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65760"/>
            <a:ext cx="73152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3329"/>
                </a:solidFill>
                <a:latin typeface="微软雅黑"/>
              </a:rPr>
              <a:t>总览 · 6月 vs 7月</a:t>
            </a:r>
            <a:endParaRPr sz="2200" b="1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777240"/>
            <a:ext cx="8229600" cy="21209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366"/>
                </a:solidFill>
                <a:latin typeface="微软雅黑"/>
              </a:rPr>
              <a:t>Service Team 17 人（含 1 人 7/2</a:t>
            </a:r>
            <a:r>
              <a:rPr lang="en-US" sz="1000" b="0">
                <a:solidFill>
                  <a:srgbClr val="6B7366"/>
                </a:solidFill>
                <a:latin typeface="微软雅黑"/>
              </a:rPr>
              <a:t>6</a:t>
            </a:r>
            <a:r>
              <a:rPr sz="1000" b="0">
                <a:solidFill>
                  <a:srgbClr val="6B7366"/>
                </a:solidFill>
                <a:latin typeface="微软雅黑"/>
              </a:rPr>
              <a:t> 离职、1 人 7月起转正）</a:t>
            </a:r>
            <a:endParaRPr sz="1000" b="0">
              <a:solidFill>
                <a:srgbClr val="6B7366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55680" cy="18288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697480" cy="1691640"/>
          </a:xfrm>
          <a:prstGeom prst="rect">
            <a:avLst/>
          </a:prstGeom>
          <a:solidFill>
            <a:srgbClr val="F5E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09728" cy="1691640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45920"/>
            <a:ext cx="2331720" cy="60134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6A1C"/>
                </a:solidFill>
                <a:latin typeface="Segoe UI"/>
              </a:rPr>
              <a:t>¥189,182</a:t>
            </a:r>
            <a:endParaRPr sz="3200" b="1">
              <a:solidFill>
                <a:srgbClr val="E86A1C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23317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3329"/>
                </a:solidFill>
                <a:latin typeface="微软雅黑"/>
              </a:rPr>
              <a:t>7月总销售额</a:t>
            </a:r>
            <a:endParaRPr sz="1200" b="1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697480"/>
            <a:ext cx="2331720" cy="21209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366"/>
                </a:solidFill>
                <a:latin typeface="微软雅黑"/>
              </a:rPr>
              <a:t>Service Team 1</a:t>
            </a:r>
            <a:r>
              <a:rPr lang="en-US" sz="1000" b="0">
                <a:solidFill>
                  <a:srgbClr val="6B7366"/>
                </a:solidFill>
                <a:latin typeface="微软雅黑"/>
              </a:rPr>
              <a:t>6</a:t>
            </a:r>
            <a:r>
              <a:rPr sz="1000" b="0">
                <a:solidFill>
                  <a:srgbClr val="6B7366"/>
                </a:solidFill>
                <a:latin typeface="微软雅黑"/>
              </a:rPr>
              <a:t> 人合计</a:t>
            </a:r>
            <a:endParaRPr sz="1000" b="0">
              <a:solidFill>
                <a:srgbClr val="6B7366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37560" y="1417320"/>
            <a:ext cx="2697480" cy="1691640"/>
          </a:xfrm>
          <a:prstGeom prst="rect">
            <a:avLst/>
          </a:prstGeom>
          <a:solidFill>
            <a:srgbClr val="F5E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109728" cy="1691640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645920"/>
            <a:ext cx="2331720" cy="70739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3800" b="1">
                <a:solidFill>
                  <a:srgbClr val="E86A1C"/>
                </a:solidFill>
                <a:latin typeface="Segoe UI"/>
              </a:rPr>
              <a:t>1</a:t>
            </a:r>
            <a:r>
              <a:rPr sz="3800" b="1">
                <a:solidFill>
                  <a:srgbClr val="E86A1C"/>
                </a:solidFill>
                <a:latin typeface="Segoe UI"/>
              </a:rPr>
              <a:t>,</a:t>
            </a:r>
            <a:r>
              <a:rPr lang="en-US" sz="3800" b="1">
                <a:solidFill>
                  <a:srgbClr val="E86A1C"/>
                </a:solidFill>
                <a:latin typeface="Segoe UI"/>
              </a:rPr>
              <a:t>6</a:t>
            </a:r>
            <a:r>
              <a:rPr sz="3800" b="1">
                <a:solidFill>
                  <a:srgbClr val="E86A1C"/>
                </a:solidFill>
                <a:latin typeface="Segoe UI"/>
              </a:rPr>
              <a:t>40 h</a:t>
            </a:r>
            <a:endParaRPr sz="3800" b="1">
              <a:solidFill>
                <a:srgbClr val="E86A1C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11880" y="2423160"/>
            <a:ext cx="23317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3329"/>
                </a:solidFill>
                <a:latin typeface="微软雅黑"/>
              </a:rPr>
              <a:t>7月总工时</a:t>
            </a:r>
            <a:endParaRPr sz="1200" b="1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11880" y="2697480"/>
            <a:ext cx="2331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366"/>
                </a:solidFill>
                <a:latin typeface="微软雅黑"/>
              </a:rPr>
              <a:t>仅 Service Team 17 人</a:t>
            </a:r>
            <a:endParaRPr sz="1000" b="0">
              <a:solidFill>
                <a:srgbClr val="6B7366"/>
              </a:solidFill>
              <a:latin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72200" y="1417320"/>
            <a:ext cx="2697480" cy="1691640"/>
          </a:xfrm>
          <a:prstGeom prst="rect">
            <a:avLst/>
          </a:prstGeom>
          <a:solidFill>
            <a:srgbClr val="F5E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417320"/>
            <a:ext cx="109728" cy="1691640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645920"/>
            <a:ext cx="23317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E86A1C"/>
                </a:solidFill>
                <a:latin typeface="Segoe UI"/>
              </a:rPr>
              <a:t>277 次</a:t>
            </a:r>
            <a:endParaRPr sz="3800" b="1">
              <a:solidFill>
                <a:srgbClr val="E86A1C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46520" y="2423160"/>
            <a:ext cx="23317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3329"/>
                </a:solidFill>
                <a:latin typeface="微软雅黑"/>
              </a:rPr>
              <a:t>7月门迎排班</a:t>
            </a:r>
            <a:endParaRPr sz="1200" b="1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46520" y="2697480"/>
            <a:ext cx="2331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366"/>
                </a:solidFill>
                <a:latin typeface="微软雅黑"/>
              </a:rPr>
              <a:t>29 天 × 平均 9.6 次/天</a:t>
            </a:r>
            <a:endParaRPr sz="1000" b="0">
              <a:solidFill>
                <a:srgbClr val="6B7366"/>
              </a:solidFill>
              <a:latin typeface="微软雅黑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006840" y="1417320"/>
            <a:ext cx="2697480" cy="1691640"/>
          </a:xfrm>
          <a:prstGeom prst="rect">
            <a:avLst/>
          </a:prstGeom>
          <a:solidFill>
            <a:srgbClr val="F5E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1417320"/>
            <a:ext cx="109728" cy="16916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1645920"/>
            <a:ext cx="23317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2E8B57"/>
                </a:solidFill>
                <a:latin typeface="Segoe UI"/>
              </a:rPr>
              <a:t>29 条</a:t>
            </a:r>
            <a:endParaRPr sz="3800" b="1">
              <a:solidFill>
                <a:srgbClr val="2E8B57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81160" y="2423160"/>
            <a:ext cx="23317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3329"/>
                </a:solidFill>
                <a:latin typeface="微软雅黑"/>
              </a:rPr>
              <a:t>7月顾客好评</a:t>
            </a:r>
            <a:endParaRPr sz="1200" b="1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281160" y="2697480"/>
            <a:ext cx="2331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366"/>
                </a:solidFill>
                <a:latin typeface="微软雅黑"/>
              </a:rPr>
              <a:t>环比 +190%（6月 10 条）</a:t>
            </a:r>
            <a:endParaRPr sz="1000" b="0">
              <a:solidFill>
                <a:srgbClr val="6B7366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3291840"/>
            <a:ext cx="11155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4D3A"/>
                </a:solidFill>
                <a:latin typeface="微软雅黑"/>
              </a:rPr>
              <a:t>评分分布对比（系统已录入的实际评分）</a:t>
            </a:r>
            <a:endParaRPr sz="1300" b="1">
              <a:solidFill>
                <a:srgbClr val="1B4D3A"/>
              </a:solidFill>
              <a:latin typeface="微软雅黑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02920" y="3749039"/>
            <a:ext cx="2560320" cy="365760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63240" y="3749039"/>
            <a:ext cx="1097280" cy="365760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60520" y="3749039"/>
            <a:ext cx="1097280" cy="365760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57800" y="3749039"/>
            <a:ext cx="1097280" cy="365760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749039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分数段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063240" y="3749039"/>
            <a:ext cx="10972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6月人数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60520" y="3749039"/>
            <a:ext cx="10972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7月人数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257800" y="3749039"/>
            <a:ext cx="10972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变化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02920" y="4114800"/>
            <a:ext cx="58521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192207"/>
            <a:ext cx="2468880" cy="22923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微软雅黑"/>
              </a:rPr>
              <a:t>≥ 4.</a:t>
            </a:r>
            <a:r>
              <a:rPr lang="en-US" sz="1100" b="0">
                <a:solidFill>
                  <a:srgbClr val="1A1A1A"/>
                </a:solidFill>
                <a:latin typeface="微软雅黑"/>
              </a:rPr>
              <a:t>0</a:t>
            </a:r>
            <a:r>
              <a:rPr sz="1100" b="0">
                <a:solidFill>
                  <a:srgbClr val="1A1A1A"/>
                </a:solidFill>
                <a:latin typeface="微软雅黑"/>
              </a:rPr>
              <a:t>  优秀</a:t>
            </a:r>
            <a:endParaRPr sz="1100" b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63240" y="4182999"/>
            <a:ext cx="1097280" cy="24765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200" b="1">
                <a:solidFill>
                  <a:srgbClr val="1A1A1A"/>
                </a:solidFill>
                <a:latin typeface="Segoe UI"/>
              </a:rPr>
              <a:t>2</a:t>
            </a:r>
            <a:endParaRPr lang="en-US" sz="1200" b="1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160520" y="4182999"/>
            <a:ext cx="1097280" cy="24765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200" b="1">
                <a:solidFill>
                  <a:srgbClr val="2E8B57"/>
                </a:solidFill>
                <a:latin typeface="Segoe UI"/>
              </a:rPr>
              <a:t>4</a:t>
            </a:r>
            <a:endParaRPr lang="en-US" sz="1200" b="1">
              <a:solidFill>
                <a:srgbClr val="2E8B57"/>
              </a:solidFill>
              <a:latin typeface="Segoe U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257800" y="4192207"/>
            <a:ext cx="1097280" cy="22923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E8B57"/>
                </a:solidFill>
                <a:latin typeface="Segoe UI"/>
                <a:sym typeface="+mn-ea"/>
              </a:rPr>
              <a:t>↑ +</a:t>
            </a:r>
            <a:r>
              <a:rPr lang="en-US" sz="1100" b="1">
                <a:solidFill>
                  <a:srgbClr val="2E8B57"/>
                </a:solidFill>
                <a:latin typeface="Segoe UI"/>
                <a:sym typeface="+mn-ea"/>
              </a:rPr>
              <a:t>2</a:t>
            </a:r>
            <a:endParaRPr lang="en-US" sz="1100" b="1">
              <a:solidFill>
                <a:srgbClr val="2E8B57"/>
              </a:solidFill>
              <a:latin typeface="Segoe UI"/>
              <a:sym typeface="+mn-ea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02920" y="4526280"/>
            <a:ext cx="5852160" cy="384048"/>
          </a:xfrm>
          <a:prstGeom prst="rect">
            <a:avLst/>
          </a:prstGeom>
          <a:solidFill>
            <a:srgbClr val="F5E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603687"/>
            <a:ext cx="2468880" cy="22923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1A1A1A"/>
                </a:solidFill>
                <a:latin typeface="微软雅黑"/>
                <a:sym typeface="+mn-ea"/>
              </a:rPr>
              <a:t>3.6–3.99</a:t>
            </a:r>
            <a:r>
              <a:rPr sz="1100" b="0">
                <a:solidFill>
                  <a:srgbClr val="1A1A1A"/>
                </a:solidFill>
                <a:latin typeface="微软雅黑"/>
              </a:rPr>
              <a:t>  良好</a:t>
            </a:r>
            <a:endParaRPr sz="1100" b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063240" y="4594479"/>
            <a:ext cx="1097280" cy="24765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200" b="1">
                <a:solidFill>
                  <a:srgbClr val="1A1A1A"/>
                </a:solidFill>
                <a:latin typeface="Segoe UI"/>
              </a:rPr>
              <a:t>5</a:t>
            </a:r>
            <a:endParaRPr lang="en-US" sz="1200" b="1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160520" y="4594479"/>
            <a:ext cx="1097280" cy="24765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200" b="1">
                <a:solidFill>
                  <a:srgbClr val="2E8B57"/>
                </a:solidFill>
                <a:latin typeface="Segoe UI"/>
                <a:sym typeface="+mn-ea"/>
              </a:rPr>
              <a:t>6</a:t>
            </a:r>
            <a:endParaRPr lang="en-US" sz="1200" b="1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257800" y="4603687"/>
            <a:ext cx="1097280" cy="22923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E8B57"/>
                </a:solidFill>
                <a:latin typeface="Segoe UI"/>
                <a:sym typeface="+mn-ea"/>
              </a:rPr>
              <a:t>↑ +</a:t>
            </a:r>
            <a:r>
              <a:rPr lang="en-US" sz="1100" b="1">
                <a:solidFill>
                  <a:srgbClr val="2E8B57"/>
                </a:solidFill>
                <a:latin typeface="Segoe UI"/>
                <a:sym typeface="+mn-ea"/>
              </a:rPr>
              <a:t>1</a:t>
            </a:r>
            <a:endParaRPr lang="en-US" sz="1100" b="1">
              <a:solidFill>
                <a:srgbClr val="2E8B57"/>
              </a:solidFill>
              <a:latin typeface="Segoe UI"/>
              <a:sym typeface="+mn-ea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02920" y="4937760"/>
            <a:ext cx="58521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5015167"/>
            <a:ext cx="2468880" cy="22923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1A1A1A"/>
                </a:solidFill>
                <a:latin typeface="微软雅黑"/>
                <a:sym typeface="+mn-ea"/>
              </a:rPr>
              <a:t>&lt; 3.6  待改进</a:t>
            </a:r>
            <a:endParaRPr sz="1100" b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063240" y="5005959"/>
            <a:ext cx="1097280" cy="24765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200" b="1">
                <a:solidFill>
                  <a:srgbClr val="1A1A1A"/>
                </a:solidFill>
                <a:latin typeface="Segoe UI"/>
              </a:rPr>
              <a:t>6</a:t>
            </a:r>
            <a:endParaRPr lang="en-US" sz="1200" b="1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160520" y="4937760"/>
            <a:ext cx="10972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6A1C"/>
                </a:solidFill>
                <a:latin typeface="Segoe UI"/>
              </a:rPr>
              <a:t>5</a:t>
            </a:r>
            <a:endParaRPr sz="1200" b="1">
              <a:solidFill>
                <a:srgbClr val="E86A1C"/>
              </a:solidFill>
              <a:latin typeface="Segoe U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257800" y="5015167"/>
            <a:ext cx="1097280" cy="22923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C0392B"/>
                </a:solidFill>
                <a:latin typeface="Segoe UI"/>
                <a:sym typeface="+mn-ea"/>
              </a:rPr>
              <a:t>↓ +</a:t>
            </a:r>
            <a:r>
              <a:rPr lang="en-US" sz="1100" b="1">
                <a:solidFill>
                  <a:srgbClr val="C0392B"/>
                </a:solidFill>
                <a:latin typeface="Segoe UI"/>
                <a:sym typeface="+mn-ea"/>
              </a:rPr>
              <a:t>1</a:t>
            </a:r>
            <a:endParaRPr lang="en-US" sz="1100" b="1">
              <a:solidFill>
                <a:srgbClr val="C0392B"/>
              </a:solidFill>
              <a:latin typeface="Segoe UI"/>
              <a:sym typeface="+mn-ea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675120" y="3749040"/>
            <a:ext cx="5029200" cy="1957070"/>
          </a:xfrm>
          <a:prstGeom prst="rect">
            <a:avLst/>
          </a:prstGeom>
          <a:solidFill>
            <a:srgbClr val="F5E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675120" y="3749039"/>
            <a:ext cx="5029200" cy="384048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66560" y="3749039"/>
            <a:ext cx="493776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关键观察</a:t>
            </a:r>
            <a:endParaRPr sz="12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812280" y="4206240"/>
            <a:ext cx="4846320" cy="22034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微软雅黑"/>
              </a:rPr>
              <a:t>• 7月高分段（≥4.</a:t>
            </a:r>
            <a:r>
              <a:rPr lang="en-US" sz="1050" b="0">
                <a:solidFill>
                  <a:srgbClr val="1A1A1A"/>
                </a:solidFill>
                <a:latin typeface="微软雅黑"/>
              </a:rPr>
              <a:t>0</a:t>
            </a:r>
            <a:r>
              <a:rPr sz="1050" b="0">
                <a:solidFill>
                  <a:srgbClr val="1A1A1A"/>
                </a:solidFill>
                <a:latin typeface="微软雅黑"/>
              </a:rPr>
              <a:t>）从 </a:t>
            </a:r>
            <a:r>
              <a:rPr lang="en-US" sz="1050" b="0">
                <a:solidFill>
                  <a:srgbClr val="1A1A1A"/>
                </a:solidFill>
                <a:latin typeface="微软雅黑"/>
              </a:rPr>
              <a:t>2</a:t>
            </a:r>
            <a:r>
              <a:rPr sz="1050" b="0">
                <a:solidFill>
                  <a:srgbClr val="1A1A1A"/>
                </a:solidFill>
                <a:latin typeface="微软雅黑"/>
              </a:rPr>
              <a:t> → </a:t>
            </a:r>
            <a:r>
              <a:rPr lang="en-US" sz="1050" b="0">
                <a:solidFill>
                  <a:srgbClr val="1A1A1A"/>
                </a:solidFill>
                <a:latin typeface="微软雅黑"/>
              </a:rPr>
              <a:t>4</a:t>
            </a:r>
            <a:r>
              <a:rPr sz="1050" b="0">
                <a:solidFill>
                  <a:srgbClr val="1A1A1A"/>
                </a:solidFill>
                <a:latin typeface="微软雅黑"/>
              </a:rPr>
              <a:t>，整体水平</a:t>
            </a:r>
            <a:r>
              <a:rPr lang="zh-CN" sz="1050" b="0">
                <a:solidFill>
                  <a:srgbClr val="1A1A1A"/>
                </a:solidFill>
                <a:latin typeface="微软雅黑"/>
              </a:rPr>
              <a:t>提升</a:t>
            </a:r>
            <a:endParaRPr lang="zh-CN" sz="1050" b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812280" y="4590288"/>
            <a:ext cx="4846320" cy="22034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微软雅黑"/>
              </a:rPr>
              <a:t>• 7月 </a:t>
            </a:r>
            <a:r>
              <a:rPr lang="en-US" sz="1050" b="0">
                <a:solidFill>
                  <a:srgbClr val="1A1A1A"/>
                </a:solidFill>
                <a:latin typeface="微软雅黑"/>
              </a:rPr>
              <a:t>4</a:t>
            </a:r>
            <a:r>
              <a:rPr sz="1050" b="0">
                <a:solidFill>
                  <a:srgbClr val="1A1A1A"/>
                </a:solidFill>
                <a:latin typeface="微软雅黑"/>
              </a:rPr>
              <a:t>人集中在 3.6 达标线，构成中坚层</a:t>
            </a:r>
            <a:endParaRPr sz="1050" b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812280" y="4974336"/>
            <a:ext cx="4846320" cy="22034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微软雅黑"/>
              </a:rPr>
              <a:t>• 7月出现 </a:t>
            </a:r>
            <a:r>
              <a:rPr lang="en-US" sz="1050" b="0">
                <a:solidFill>
                  <a:srgbClr val="1A1A1A"/>
                </a:solidFill>
                <a:latin typeface="微软雅黑"/>
              </a:rPr>
              <a:t>1</a:t>
            </a:r>
            <a:r>
              <a:rPr sz="1050" b="0">
                <a:solidFill>
                  <a:srgbClr val="1A1A1A"/>
                </a:solidFill>
                <a:latin typeface="微软雅黑"/>
              </a:rPr>
              <a:t> 人低于 3.6（杨子豪 3.4）</a:t>
            </a:r>
            <a:endParaRPr sz="1050" b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812280" y="5358383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微软雅黑"/>
              </a:rPr>
              <a:t>• 工时支持单项全员普遍 4.0+，出勤稳定</a:t>
            </a:r>
            <a:endParaRPr sz="1050" b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6565392"/>
            <a:ext cx="9144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微软雅黑"/>
              </a:rPr>
              <a:t>Service Team 月度复盘 · 6月 vs 7月 · 2026</a:t>
            </a:r>
            <a:endParaRPr sz="900" b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698480" y="656539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Segoe UI"/>
              </a:rPr>
              <a:t>2 / 6</a:t>
            </a:r>
            <a:endParaRPr sz="900" b="0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594360" cy="594360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9436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02</a:t>
            </a:r>
            <a:endParaRPr sz="2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65760"/>
            <a:ext cx="73152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3329"/>
                </a:solidFill>
                <a:latin typeface="微软雅黑"/>
              </a:rPr>
              <a:t>7月 Top 3 · 重点奖励</a:t>
            </a:r>
            <a:endParaRPr sz="2200" b="1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77724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366"/>
                </a:solidFill>
                <a:latin typeface="微软雅黑"/>
              </a:rPr>
              <a:t>综合分 ≥ 4.1 / 5.0，全部获 ¥60/h 顶档时薪</a:t>
            </a:r>
            <a:endParaRPr sz="1000" b="0">
              <a:solidFill>
                <a:srgbClr val="6B7366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55680" cy="18288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70332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3703320" cy="502920"/>
          </a:xfrm>
          <a:prstGeom prst="rect">
            <a:avLst/>
          </a:prstGeom>
          <a:solidFill>
            <a:srgbClr val="D4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777240" cy="320040"/>
          </a:xfrm>
          <a:prstGeom prst="rect">
            <a:avLst/>
          </a:prstGeom>
          <a:solidFill>
            <a:srgbClr val="D4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08760"/>
            <a:ext cx="7772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MVP</a:t>
            </a:r>
            <a:endParaRPr sz="14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45920" y="1515110"/>
            <a:ext cx="2423160" cy="3530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王雅澜</a:t>
            </a:r>
            <a:r>
              <a:rPr lang="en-US" sz="1800" b="1">
                <a:solidFill>
                  <a:srgbClr val="FFFFFF"/>
                </a:solidFill>
                <a:latin typeface="微软雅黑"/>
              </a:rPr>
              <a:t>（480</a:t>
            </a:r>
            <a:r>
              <a:rPr lang="zh-CN" altLang="en-US" sz="1800" b="1">
                <a:solidFill>
                  <a:srgbClr val="FFFFFF"/>
                </a:solidFill>
                <a:latin typeface="微软雅黑"/>
              </a:rPr>
              <a:t>元</a:t>
            </a:r>
            <a:r>
              <a:rPr lang="en-US" altLang="zh-CN" sz="1800" b="1">
                <a:solidFill>
                  <a:srgbClr val="FFFFFF"/>
                </a:solidFill>
                <a:latin typeface="微软雅黑"/>
              </a:rPr>
              <a:t>）</a:t>
            </a:r>
            <a:endParaRPr lang="en-US" altLang="zh-CN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31546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D4A517"/>
                </a:solidFill>
                <a:latin typeface="Segoe UI"/>
              </a:rPr>
              <a:t>4.2</a:t>
            </a:r>
            <a:endParaRPr sz="4400" b="1">
              <a:solidFill>
                <a:srgbClr val="D4A517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2926080"/>
            <a:ext cx="3154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366"/>
                </a:solidFill>
                <a:latin typeface="微软雅黑"/>
              </a:rPr>
              <a:t>/ 5.0   ·   ¥60/h · 铁人担当</a:t>
            </a:r>
            <a:endParaRPr sz="1000" b="0">
              <a:solidFill>
                <a:srgbClr val="6B7366"/>
              </a:solidFill>
              <a:latin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7240" y="3291839"/>
            <a:ext cx="3154680" cy="18288"/>
          </a:xfrm>
          <a:prstGeom prst="rect">
            <a:avLst/>
          </a:prstGeom>
          <a:solidFill>
            <a:srgbClr val="E0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83280"/>
            <a:ext cx="3154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3329"/>
                </a:solidFill>
                <a:latin typeface="微软雅黑"/>
              </a:rPr>
              <a:t>5维评分</a:t>
            </a:r>
            <a:endParaRPr sz="1000" b="1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3657600"/>
            <a:ext cx="31546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微软雅黑"/>
              </a:rPr>
              <a:t>工时5.0 · 行为4.7 · 业绩3.5 · 好评3.0</a:t>
            </a:r>
            <a:endParaRPr sz="1000" b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4480560"/>
            <a:ext cx="3154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6A1C"/>
                </a:solidFill>
                <a:latin typeface="微软雅黑"/>
              </a:rPr>
              <a:t>🏅 出勤铁人 · 零迟到</a:t>
            </a:r>
            <a:endParaRPr sz="1000" b="0">
              <a:solidFill>
                <a:srgbClr val="E86A1C"/>
              </a:solidFill>
              <a:latin typeface="微软雅黑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7240" y="4800600"/>
            <a:ext cx="3154680" cy="777240"/>
          </a:xfrm>
          <a:prstGeom prst="rect">
            <a:avLst/>
          </a:prstGeom>
          <a:solidFill>
            <a:srgbClr val="F5E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288036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F3329"/>
                </a:solidFill>
                <a:latin typeface="微软雅黑"/>
              </a:rPr>
              <a:t>“风雨无阻，随叫随到”</a:t>
            </a:r>
            <a:endParaRPr sz="1050" b="0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251960" y="1417320"/>
            <a:ext cx="370332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1417320"/>
            <a:ext cx="3703320" cy="50292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1508760"/>
            <a:ext cx="777240" cy="32004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1508760"/>
            <a:ext cx="7772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亚军</a:t>
            </a:r>
            <a:endParaRPr sz="14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94960" y="1515110"/>
            <a:ext cx="2423160" cy="3530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龚赟昊</a:t>
            </a:r>
            <a:r>
              <a:rPr lang="en-US" sz="1800" b="1">
                <a:solidFill>
                  <a:srgbClr val="FFFFFF"/>
                </a:solidFill>
                <a:latin typeface="微软雅黑"/>
              </a:rPr>
              <a:t>（360</a:t>
            </a:r>
            <a:r>
              <a:rPr lang="zh-CN" altLang="en-US" sz="1800" b="1">
                <a:solidFill>
                  <a:srgbClr val="FFFFFF"/>
                </a:solidFill>
                <a:latin typeface="微软雅黑"/>
              </a:rPr>
              <a:t>元</a:t>
            </a:r>
            <a:r>
              <a:rPr lang="en-US" altLang="zh-CN" sz="1800" b="1">
                <a:solidFill>
                  <a:srgbClr val="FFFFFF"/>
                </a:solidFill>
                <a:latin typeface="微软雅黑"/>
              </a:rPr>
              <a:t>）</a:t>
            </a:r>
            <a:endParaRPr lang="en-US" altLang="zh-CN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26280" y="2103120"/>
            <a:ext cx="31546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C0C0C0"/>
                </a:solidFill>
                <a:latin typeface="Segoe UI"/>
              </a:rPr>
              <a:t>4.2</a:t>
            </a:r>
            <a:endParaRPr sz="4400" b="1">
              <a:solidFill>
                <a:srgbClr val="C0C0C0"/>
              </a:solidFill>
              <a:latin typeface="Segoe U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26280" y="2926080"/>
            <a:ext cx="3154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366"/>
                </a:solidFill>
                <a:latin typeface="微软雅黑"/>
              </a:rPr>
              <a:t>/ 5.0   ·   ¥60/h · 铁人担当</a:t>
            </a:r>
            <a:endParaRPr sz="1000" b="0">
              <a:solidFill>
                <a:srgbClr val="6B7366"/>
              </a:solidFill>
              <a:latin typeface="微软雅黑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526280" y="3291839"/>
            <a:ext cx="3154680" cy="18288"/>
          </a:xfrm>
          <a:prstGeom prst="rect">
            <a:avLst/>
          </a:prstGeom>
          <a:solidFill>
            <a:srgbClr val="E0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383280"/>
            <a:ext cx="3154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3329"/>
                </a:solidFill>
                <a:latin typeface="微软雅黑"/>
              </a:rPr>
              <a:t>5维评分</a:t>
            </a:r>
            <a:endParaRPr sz="1000" b="1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26280" y="3657600"/>
            <a:ext cx="31546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微软雅黑"/>
              </a:rPr>
              <a:t>工时5.0 · 行为4.0 · 业绩5.0 · 好评2.0</a:t>
            </a:r>
            <a:endParaRPr sz="1000" b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26280" y="4480560"/>
            <a:ext cx="3154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6A1C"/>
                </a:solidFill>
                <a:latin typeface="微软雅黑"/>
              </a:rPr>
              <a:t>🏅 好产之王 · 出勤铁人 · 零迟到</a:t>
            </a:r>
            <a:endParaRPr sz="1000" b="0">
              <a:solidFill>
                <a:srgbClr val="E86A1C"/>
              </a:solidFill>
              <a:latin typeface="微软雅黑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526280" y="4800600"/>
            <a:ext cx="3154680" cy="777240"/>
          </a:xfrm>
          <a:prstGeom prst="rect">
            <a:avLst/>
          </a:prstGeom>
          <a:solidFill>
            <a:srgbClr val="F5E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4800600"/>
            <a:ext cx="288036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F3329"/>
                </a:solidFill>
                <a:latin typeface="微软雅黑"/>
              </a:rPr>
              <a:t>“能卖能扛，店铺发动机”</a:t>
            </a:r>
            <a:endParaRPr sz="1050" b="0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001000" y="1417320"/>
            <a:ext cx="370332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01000" y="1417320"/>
            <a:ext cx="3703320" cy="502920"/>
          </a:xfrm>
          <a:prstGeom prst="rect">
            <a:avLst/>
          </a:prstGeom>
          <a:solidFill>
            <a:srgbClr val="CD7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1508760"/>
            <a:ext cx="777240" cy="320040"/>
          </a:xfrm>
          <a:prstGeom prst="rect">
            <a:avLst/>
          </a:prstGeom>
          <a:solidFill>
            <a:srgbClr val="CD7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1508760"/>
            <a:ext cx="7772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季军</a:t>
            </a:r>
            <a:endParaRPr sz="14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144000" y="1515110"/>
            <a:ext cx="2423160" cy="3530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孔祥宇</a:t>
            </a:r>
            <a:r>
              <a:rPr lang="en-US" sz="1800" b="1">
                <a:solidFill>
                  <a:srgbClr val="FFFFFF"/>
                </a:solidFill>
                <a:latin typeface="微软雅黑"/>
              </a:rPr>
              <a:t>（240</a:t>
            </a:r>
            <a:r>
              <a:rPr lang="zh-CN" altLang="en-US" sz="1800" b="1">
                <a:solidFill>
                  <a:srgbClr val="FFFFFF"/>
                </a:solidFill>
                <a:latin typeface="微软雅黑"/>
              </a:rPr>
              <a:t>元</a:t>
            </a:r>
            <a:r>
              <a:rPr lang="en-US" altLang="zh-CN" sz="1800" b="1">
                <a:solidFill>
                  <a:srgbClr val="FFFFFF"/>
                </a:solidFill>
                <a:latin typeface="微软雅黑"/>
              </a:rPr>
              <a:t>）</a:t>
            </a:r>
            <a:endParaRPr lang="en-US" altLang="zh-CN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75320" y="2103120"/>
            <a:ext cx="31546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CD7F32"/>
                </a:solidFill>
                <a:latin typeface="Segoe UI"/>
              </a:rPr>
              <a:t>4.1</a:t>
            </a:r>
            <a:endParaRPr sz="4400" b="1">
              <a:solidFill>
                <a:srgbClr val="CD7F32"/>
              </a:solidFill>
              <a:latin typeface="Segoe U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75320" y="2926080"/>
            <a:ext cx="3154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7366"/>
                </a:solidFill>
                <a:latin typeface="微软雅黑"/>
              </a:rPr>
              <a:t>/ 5.0   ·   ¥60/h · 铁人担当</a:t>
            </a:r>
            <a:endParaRPr sz="1000" b="0">
              <a:solidFill>
                <a:srgbClr val="6B7366"/>
              </a:solidFill>
              <a:latin typeface="微软雅黑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275320" y="3291839"/>
            <a:ext cx="3154680" cy="18288"/>
          </a:xfrm>
          <a:prstGeom prst="rect">
            <a:avLst/>
          </a:prstGeom>
          <a:solidFill>
            <a:srgbClr val="E0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3383280"/>
            <a:ext cx="3154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3329"/>
                </a:solidFill>
                <a:latin typeface="微软雅黑"/>
              </a:rPr>
              <a:t>5维评分</a:t>
            </a:r>
            <a:endParaRPr sz="1000" b="1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275320" y="3657600"/>
            <a:ext cx="31546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微软雅黑"/>
              </a:rPr>
              <a:t>工时5.0 · 行为5.0 · 业绩2.5 · 好评3.0</a:t>
            </a:r>
            <a:endParaRPr sz="1000" b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275320" y="4480560"/>
            <a:ext cx="3154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6A1C"/>
                </a:solidFill>
                <a:latin typeface="微软雅黑"/>
              </a:rPr>
              <a:t>🏅 出勤铁人 · 门面MVP · 零迟到</a:t>
            </a:r>
            <a:endParaRPr sz="1000" b="0">
              <a:solidFill>
                <a:srgbClr val="E86A1C"/>
              </a:solidFill>
              <a:latin typeface="微软雅黑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275320" y="4800600"/>
            <a:ext cx="3154680" cy="777240"/>
          </a:xfrm>
          <a:prstGeom prst="rect">
            <a:avLst/>
          </a:prstGeom>
          <a:solidFill>
            <a:srgbClr val="F5E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4800600"/>
            <a:ext cx="288036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F3329"/>
                </a:solidFill>
                <a:latin typeface="微软雅黑"/>
              </a:rPr>
              <a:t>“风雨无阻，随叫随到”</a:t>
            </a:r>
            <a:endParaRPr sz="1050" b="0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02920" y="5852160"/>
            <a:ext cx="11155680" cy="594360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6025515"/>
            <a:ext cx="10972800" cy="24765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endParaRPr sz="1200" b="1">
              <a:solidFill>
                <a:srgbClr val="F58A2A"/>
              </a:solidFill>
              <a:latin typeface="微软雅黑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6565392"/>
            <a:ext cx="9144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微软雅黑"/>
              </a:rPr>
              <a:t>Service Team 月度复盘 · 6月 vs 7月 · 2026</a:t>
            </a:r>
            <a:endParaRPr sz="900" b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698480" y="656539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Segoe UI"/>
              </a:rPr>
              <a:t>3 / 6</a:t>
            </a:r>
            <a:endParaRPr sz="900" b="0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594360" cy="594360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9436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03</a:t>
            </a:r>
            <a:endParaRPr sz="2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65760"/>
            <a:ext cx="7315200" cy="4241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3329"/>
                </a:solidFill>
                <a:latin typeface="微软雅黑"/>
              </a:rPr>
              <a:t>7月 </a:t>
            </a:r>
            <a:r>
              <a:rPr lang="en-US" sz="2200" b="1">
                <a:solidFill>
                  <a:srgbClr val="0F3329"/>
                </a:solidFill>
                <a:latin typeface="微软雅黑"/>
              </a:rPr>
              <a:t>Bottom 3</a:t>
            </a:r>
            <a:r>
              <a:rPr sz="2200" b="1">
                <a:solidFill>
                  <a:srgbClr val="0F3329"/>
                </a:solidFill>
                <a:latin typeface="微软雅黑"/>
              </a:rPr>
              <a:t>（已排除 4 名新入职）</a:t>
            </a:r>
            <a:endParaRPr sz="2200" b="1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777240"/>
            <a:ext cx="8229600" cy="21209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366"/>
                </a:solidFill>
                <a:latin typeface="微软雅黑"/>
              </a:rPr>
              <a:t>排除范围：贾长乐 / 玛依拉 / 梁实秋 / 唐蓉</a:t>
            </a:r>
            <a:endParaRPr sz="1000" b="0">
              <a:solidFill>
                <a:srgbClr val="6B7366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55680" cy="18288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50695"/>
            <a:ext cx="3703320" cy="3931920"/>
          </a:xfrm>
          <a:prstGeom prst="rect">
            <a:avLst/>
          </a:prstGeom>
          <a:solidFill>
            <a:srgbClr val="F5E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750695"/>
            <a:ext cx="137160" cy="3931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3575"/>
            <a:ext cx="1371600" cy="38925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C0392B"/>
                </a:solidFill>
                <a:latin typeface="Segoe UI"/>
              </a:rPr>
              <a:t># 1</a:t>
            </a:r>
            <a:r>
              <a:rPr lang="en-US" sz="2000" b="1">
                <a:solidFill>
                  <a:srgbClr val="C0392B"/>
                </a:solidFill>
                <a:latin typeface="Segoe UI"/>
              </a:rPr>
              <a:t>2</a:t>
            </a:r>
            <a:endParaRPr lang="en-US" sz="2000" b="1">
              <a:solidFill>
                <a:srgbClr val="C0392B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345055"/>
            <a:ext cx="31546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3329"/>
                </a:solidFill>
                <a:latin typeface="微软雅黑"/>
              </a:rPr>
              <a:t>杨子豪</a:t>
            </a:r>
            <a:endParaRPr sz="2200" b="1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2802255"/>
            <a:ext cx="3154680" cy="53022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0392B"/>
                </a:solidFill>
                <a:latin typeface="Segoe UI"/>
              </a:rPr>
              <a:t>3.4</a:t>
            </a:r>
            <a:r>
              <a:rPr sz="1400" b="0">
                <a:solidFill>
                  <a:srgbClr val="6B7366"/>
                </a:solidFill>
                <a:latin typeface="Segoe UI"/>
              </a:rPr>
              <a:t> / 5.0</a:t>
            </a:r>
            <a:r>
              <a:rPr sz="1100" b="0">
                <a:solidFill>
                  <a:srgbClr val="0F3329"/>
                </a:solidFill>
                <a:latin typeface="微软雅黑"/>
              </a:rPr>
              <a:t>   ¥</a:t>
            </a:r>
            <a:r>
              <a:rPr lang="en-US" sz="1100" b="0">
                <a:solidFill>
                  <a:srgbClr val="0F3329"/>
                </a:solidFill>
                <a:latin typeface="微软雅黑"/>
              </a:rPr>
              <a:t>60</a:t>
            </a:r>
            <a:r>
              <a:rPr sz="1100" b="0">
                <a:solidFill>
                  <a:srgbClr val="0F3329"/>
                </a:solidFill>
                <a:latin typeface="微软雅黑"/>
              </a:rPr>
              <a:t>/h · 铁人担当</a:t>
            </a:r>
            <a:endParaRPr sz="1100" b="0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7240" y="3305175"/>
            <a:ext cx="3154680" cy="18288"/>
          </a:xfrm>
          <a:prstGeom prst="rect">
            <a:avLst/>
          </a:prstGeom>
          <a:solidFill>
            <a:srgbClr val="E0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78327"/>
            <a:ext cx="3154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3329"/>
                </a:solidFill>
                <a:latin typeface="微软雅黑"/>
              </a:rPr>
              <a:t>5维评分</a:t>
            </a:r>
            <a:endParaRPr sz="1000" b="1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3625214"/>
            <a:ext cx="3154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A1A1A"/>
                </a:solidFill>
                <a:latin typeface="微软雅黑"/>
              </a:rPr>
              <a:t>工时5.0 · 行为3.0 · 业绩1.0 · 好评3.0</a:t>
            </a:r>
            <a:endParaRPr sz="950" b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4265295"/>
            <a:ext cx="3154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E86A1C"/>
                </a:solidFill>
                <a:latin typeface="微软雅黑"/>
              </a:rPr>
              <a:t>🏷 出勤铁人 · 零迟到</a:t>
            </a:r>
            <a:endParaRPr sz="950" b="0">
              <a:solidFill>
                <a:srgbClr val="E86A1C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4585335"/>
            <a:ext cx="3154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0392B"/>
                </a:solidFill>
                <a:latin typeface="微软雅黑"/>
              </a:rPr>
              <a:t>关键短板</a:t>
            </a:r>
            <a:endParaRPr sz="1000" b="1">
              <a:solidFill>
                <a:srgbClr val="C0392B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4859655"/>
            <a:ext cx="3154680" cy="46609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微软雅黑"/>
              </a:rPr>
              <a:t>业绩断崖式下滑，无其他短板</a:t>
            </a:r>
            <a:endParaRPr sz="1000" b="0">
              <a:solidFill>
                <a:srgbClr val="1A1A1A"/>
              </a:solidFill>
              <a:latin typeface="微软雅黑"/>
            </a:endParaRPr>
          </a:p>
          <a:p>
            <a:pPr algn="l">
              <a:lnSpc>
                <a:spcPct val="140000"/>
              </a:lnSpc>
            </a:pPr>
            <a:r>
              <a:rPr lang="zh-CN" sz="1000" b="0">
                <a:solidFill>
                  <a:srgbClr val="1A1A1A"/>
                </a:solidFill>
                <a:latin typeface="微软雅黑"/>
              </a:rPr>
              <a:t>安福路“时代少年团”</a:t>
            </a:r>
            <a:r>
              <a:rPr lang="zh-CN" sz="1000" b="0">
                <a:solidFill>
                  <a:srgbClr val="1A1A1A"/>
                </a:solidFill>
                <a:latin typeface="微软雅黑"/>
              </a:rPr>
              <a:t>扛把子</a:t>
            </a:r>
            <a:endParaRPr lang="zh-CN" sz="1000" b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251960" y="1750695"/>
            <a:ext cx="3703320" cy="3931920"/>
          </a:xfrm>
          <a:prstGeom prst="rect">
            <a:avLst/>
          </a:prstGeom>
          <a:solidFill>
            <a:srgbClr val="F5E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1750695"/>
            <a:ext cx="137160" cy="3931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1933575"/>
            <a:ext cx="1371600" cy="38925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C0392B"/>
                </a:solidFill>
                <a:latin typeface="Segoe UI"/>
              </a:rPr>
              <a:t># 1</a:t>
            </a:r>
            <a:r>
              <a:rPr lang="en-US" sz="2000" b="1">
                <a:solidFill>
                  <a:srgbClr val="C0392B"/>
                </a:solidFill>
                <a:latin typeface="Segoe UI"/>
              </a:rPr>
              <a:t>0</a:t>
            </a:r>
            <a:endParaRPr lang="en-US" sz="2000" b="1">
              <a:solidFill>
                <a:srgbClr val="C0392B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26280" y="2345055"/>
            <a:ext cx="31546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3329"/>
                </a:solidFill>
                <a:latin typeface="微软雅黑"/>
              </a:rPr>
              <a:t>王龙宇</a:t>
            </a:r>
            <a:endParaRPr sz="2200" b="1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6280" y="2802255"/>
            <a:ext cx="31546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0392B"/>
                </a:solidFill>
                <a:latin typeface="Segoe UI"/>
              </a:rPr>
              <a:t>3.6</a:t>
            </a:r>
            <a:r>
              <a:rPr sz="1400" b="0">
                <a:solidFill>
                  <a:srgbClr val="6B7366"/>
                </a:solidFill>
                <a:latin typeface="Segoe UI"/>
              </a:rPr>
              <a:t> / 5.0</a:t>
            </a:r>
            <a:r>
              <a:rPr sz="1100" b="0">
                <a:solidFill>
                  <a:srgbClr val="0F3329"/>
                </a:solidFill>
                <a:latin typeface="微软雅黑"/>
              </a:rPr>
              <a:t>   ¥60/h · 稳中向好</a:t>
            </a:r>
            <a:endParaRPr sz="1100" b="0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26280" y="3305175"/>
            <a:ext cx="3154680" cy="18288"/>
          </a:xfrm>
          <a:prstGeom prst="rect">
            <a:avLst/>
          </a:prstGeom>
          <a:solidFill>
            <a:srgbClr val="E0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3378327"/>
            <a:ext cx="3154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3329"/>
                </a:solidFill>
                <a:latin typeface="微软雅黑"/>
              </a:rPr>
              <a:t>5维评分</a:t>
            </a:r>
            <a:endParaRPr sz="1000" b="1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26280" y="3625214"/>
            <a:ext cx="3154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A1A1A"/>
                </a:solidFill>
                <a:latin typeface="微软雅黑"/>
              </a:rPr>
              <a:t>工时4.0 · 行为3.0 · 业绩2.0 · 好评4.0</a:t>
            </a:r>
            <a:endParaRPr sz="950" b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26280" y="4265295"/>
            <a:ext cx="3154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E86A1C"/>
                </a:solidFill>
                <a:latin typeface="微软雅黑"/>
              </a:rPr>
              <a:t>🏷 零迟到</a:t>
            </a:r>
            <a:endParaRPr sz="950" b="0">
              <a:solidFill>
                <a:srgbClr val="E86A1C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26280" y="4585335"/>
            <a:ext cx="3154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0392B"/>
                </a:solidFill>
                <a:latin typeface="微软雅黑"/>
              </a:rPr>
              <a:t>关键短板</a:t>
            </a:r>
            <a:endParaRPr sz="1000" b="1">
              <a:solidFill>
                <a:srgbClr val="C0392B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26280" y="4859655"/>
            <a:ext cx="3154680" cy="46609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微软雅黑"/>
              </a:rPr>
              <a:t>工时支持与销售业绩双弱，但好评基础扎实</a:t>
            </a:r>
            <a:endParaRPr sz="1000" b="0">
              <a:solidFill>
                <a:srgbClr val="1A1A1A"/>
              </a:solidFill>
              <a:latin typeface="微软雅黑"/>
            </a:endParaRPr>
          </a:p>
          <a:p>
            <a:pPr algn="l">
              <a:lnSpc>
                <a:spcPct val="140000"/>
              </a:lnSpc>
            </a:pPr>
            <a:endParaRPr sz="1000" b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001000" y="1750695"/>
            <a:ext cx="3703320" cy="3931920"/>
          </a:xfrm>
          <a:prstGeom prst="rect">
            <a:avLst/>
          </a:prstGeom>
          <a:solidFill>
            <a:srgbClr val="F5E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01000" y="1750695"/>
            <a:ext cx="137160" cy="3931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1933575"/>
            <a:ext cx="1371600" cy="38925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C0392B"/>
                </a:solidFill>
                <a:latin typeface="Segoe UI"/>
              </a:rPr>
              <a:t># </a:t>
            </a:r>
            <a:r>
              <a:rPr lang="en-US" sz="2000" b="1">
                <a:solidFill>
                  <a:srgbClr val="C0392B"/>
                </a:solidFill>
                <a:latin typeface="Segoe UI"/>
              </a:rPr>
              <a:t>9</a:t>
            </a:r>
            <a:endParaRPr lang="en-US" sz="2000" b="1">
              <a:solidFill>
                <a:srgbClr val="C0392B"/>
              </a:solidFill>
              <a:latin typeface="Segoe U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75320" y="2345055"/>
            <a:ext cx="3154680" cy="4241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2200" b="1">
                <a:solidFill>
                  <a:srgbClr val="0F3329"/>
                </a:solidFill>
                <a:latin typeface="微软雅黑"/>
              </a:rPr>
              <a:t>迟骋</a:t>
            </a:r>
            <a:endParaRPr lang="zh-CN" sz="2200" b="1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75320" y="2802255"/>
            <a:ext cx="31546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0392B"/>
                </a:solidFill>
                <a:latin typeface="Segoe UI"/>
              </a:rPr>
              <a:t>3.6</a:t>
            </a:r>
            <a:r>
              <a:rPr sz="1400" b="0">
                <a:solidFill>
                  <a:srgbClr val="6B7366"/>
                </a:solidFill>
                <a:latin typeface="Segoe UI"/>
              </a:rPr>
              <a:t> / 5.0</a:t>
            </a:r>
            <a:r>
              <a:rPr sz="1100" b="0">
                <a:solidFill>
                  <a:srgbClr val="0F3329"/>
                </a:solidFill>
                <a:latin typeface="微软雅黑"/>
              </a:rPr>
              <a:t>   ¥60/h · 销售主力</a:t>
            </a:r>
            <a:endParaRPr sz="1100" b="0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275320" y="3305175"/>
            <a:ext cx="3154680" cy="18288"/>
          </a:xfrm>
          <a:prstGeom prst="rect">
            <a:avLst/>
          </a:prstGeom>
          <a:solidFill>
            <a:srgbClr val="E0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3378327"/>
            <a:ext cx="3154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3329"/>
                </a:solidFill>
                <a:latin typeface="微软雅黑"/>
              </a:rPr>
              <a:t>5维评分</a:t>
            </a:r>
            <a:endParaRPr sz="1000" b="1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75320" y="3625214"/>
            <a:ext cx="3154680" cy="2324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A1A1A"/>
                </a:solidFill>
                <a:latin typeface="微软雅黑"/>
              </a:rPr>
              <a:t>工时</a:t>
            </a:r>
            <a:r>
              <a:rPr lang="en-US" sz="950" b="0">
                <a:solidFill>
                  <a:srgbClr val="1A1A1A"/>
                </a:solidFill>
                <a:latin typeface="微软雅黑"/>
              </a:rPr>
              <a:t>4</a:t>
            </a:r>
            <a:r>
              <a:rPr sz="950" b="0">
                <a:solidFill>
                  <a:srgbClr val="1A1A1A"/>
                </a:solidFill>
                <a:latin typeface="微软雅黑"/>
              </a:rPr>
              <a:t>.0 · 行为</a:t>
            </a:r>
            <a:r>
              <a:rPr lang="en-US" sz="950" b="0">
                <a:solidFill>
                  <a:srgbClr val="1A1A1A"/>
                </a:solidFill>
                <a:latin typeface="微软雅黑"/>
              </a:rPr>
              <a:t>4</a:t>
            </a:r>
            <a:r>
              <a:rPr sz="950" b="0">
                <a:solidFill>
                  <a:srgbClr val="1A1A1A"/>
                </a:solidFill>
                <a:latin typeface="微软雅黑"/>
              </a:rPr>
              <a:t>.0 · 业绩</a:t>
            </a:r>
            <a:r>
              <a:rPr lang="en-US" sz="950" b="0">
                <a:solidFill>
                  <a:srgbClr val="1A1A1A"/>
                </a:solidFill>
                <a:latin typeface="微软雅黑"/>
              </a:rPr>
              <a:t>1</a:t>
            </a:r>
            <a:r>
              <a:rPr sz="950" b="0">
                <a:solidFill>
                  <a:srgbClr val="1A1A1A"/>
                </a:solidFill>
                <a:latin typeface="微软雅黑"/>
              </a:rPr>
              <a:t>.</a:t>
            </a:r>
            <a:r>
              <a:rPr lang="en-US" sz="950" b="0">
                <a:solidFill>
                  <a:srgbClr val="1A1A1A"/>
                </a:solidFill>
                <a:latin typeface="微软雅黑"/>
              </a:rPr>
              <a:t>5</a:t>
            </a:r>
            <a:r>
              <a:rPr sz="950" b="0">
                <a:solidFill>
                  <a:srgbClr val="1A1A1A"/>
                </a:solidFill>
                <a:latin typeface="微软雅黑"/>
              </a:rPr>
              <a:t> · 好评3.</a:t>
            </a:r>
            <a:r>
              <a:rPr lang="en-US" sz="950" b="0">
                <a:solidFill>
                  <a:srgbClr val="1A1A1A"/>
                </a:solidFill>
                <a:latin typeface="微软雅黑"/>
              </a:rPr>
              <a:t>5</a:t>
            </a:r>
            <a:endParaRPr lang="en-US" sz="950" b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75320" y="4265295"/>
            <a:ext cx="3154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E86A1C"/>
                </a:solidFill>
                <a:latin typeface="微软雅黑"/>
              </a:rPr>
              <a:t>🏷 出勤铁人</a:t>
            </a:r>
            <a:endParaRPr sz="950" b="0">
              <a:solidFill>
                <a:srgbClr val="E86A1C"/>
              </a:solidFill>
              <a:latin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75320" y="4585335"/>
            <a:ext cx="3154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0392B"/>
                </a:solidFill>
                <a:latin typeface="微软雅黑"/>
              </a:rPr>
              <a:t>关键短板</a:t>
            </a:r>
            <a:endParaRPr sz="1000" b="1">
              <a:solidFill>
                <a:srgbClr val="C0392B"/>
              </a:solidFill>
              <a:latin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275320" y="4859655"/>
            <a:ext cx="3154680" cy="25082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>
                <a:solidFill>
                  <a:srgbClr val="1A1A1A"/>
                </a:solidFill>
                <a:latin typeface="微软雅黑"/>
                <a:sym typeface="+mn-ea"/>
              </a:rPr>
              <a:t>业绩断崖式下滑，无其他短板</a:t>
            </a:r>
            <a:endParaRPr sz="1000" b="0">
              <a:solidFill>
                <a:srgbClr val="1A1A1A"/>
              </a:solidFill>
              <a:latin typeface="微软雅黑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02920" y="5499735"/>
            <a:ext cx="11155680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673090"/>
            <a:ext cx="10972800" cy="24765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517"/>
                </a:solidFill>
                <a:latin typeface="微软雅黑"/>
              </a:rPr>
              <a:t>建议：</a:t>
            </a:r>
            <a:r>
              <a:rPr lang="zh-CN" sz="1150" b="0">
                <a:solidFill>
                  <a:srgbClr val="FFFFFF"/>
                </a:solidFill>
                <a:latin typeface="微软雅黑"/>
              </a:rPr>
              <a:t>三位都需要保持销售积极性</a:t>
            </a:r>
            <a:r>
              <a:rPr lang="en-US" altLang="zh-CN" sz="1150" b="0">
                <a:solidFill>
                  <a:srgbClr val="FFFFFF"/>
                </a:solidFill>
                <a:latin typeface="微软雅黑"/>
              </a:rPr>
              <a:t>，</a:t>
            </a:r>
            <a:r>
              <a:rPr lang="zh-CN" altLang="en-US" sz="1150" b="0">
                <a:solidFill>
                  <a:srgbClr val="FFFFFF"/>
                </a:solidFill>
                <a:latin typeface="微软雅黑"/>
              </a:rPr>
              <a:t>总结销售弱环确保稳定性</a:t>
            </a:r>
            <a:r>
              <a:rPr sz="1150" b="0">
                <a:solidFill>
                  <a:srgbClr val="FFFFFF"/>
                </a:solidFill>
                <a:latin typeface="微软雅黑"/>
              </a:rPr>
              <a:t>；</a:t>
            </a:r>
            <a:r>
              <a:rPr lang="zh-CN" sz="1150" b="0">
                <a:solidFill>
                  <a:srgbClr val="FFFFFF"/>
                </a:solidFill>
                <a:latin typeface="微软雅黑"/>
              </a:rPr>
              <a:t>针对王龙宇和迟骋</a:t>
            </a:r>
            <a:r>
              <a:rPr lang="en-US" altLang="zh-CN" sz="1150" b="0">
                <a:solidFill>
                  <a:srgbClr val="FFFFFF"/>
                </a:solidFill>
                <a:latin typeface="微软雅黑"/>
              </a:rPr>
              <a:t>，</a:t>
            </a:r>
            <a:r>
              <a:rPr lang="zh-CN" altLang="en-US" sz="1150" b="0">
                <a:solidFill>
                  <a:srgbClr val="FFFFFF"/>
                </a:solidFill>
                <a:latin typeface="微软雅黑"/>
              </a:rPr>
              <a:t>每周练习口语确保和外宾正常沟通</a:t>
            </a:r>
            <a:r>
              <a:rPr lang="en-US" altLang="zh-CN" sz="1150" b="0">
                <a:solidFill>
                  <a:srgbClr val="FFFFFF"/>
                </a:solidFill>
                <a:latin typeface="微软雅黑"/>
              </a:rPr>
              <a:t>；</a:t>
            </a:r>
            <a:endParaRPr lang="en-US" altLang="zh-CN" sz="1150" b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565392"/>
            <a:ext cx="9144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微软雅黑"/>
              </a:rPr>
              <a:t>Service Team 月度复盘 · 6月 vs 7月 · 2026</a:t>
            </a:r>
            <a:endParaRPr sz="900" b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698480" y="656539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Segoe UI"/>
              </a:rPr>
              <a:t>4 / 6</a:t>
            </a:r>
            <a:endParaRPr sz="900" b="0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594360" cy="594360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9436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04</a:t>
            </a:r>
            <a:endParaRPr sz="2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65760"/>
            <a:ext cx="7315200" cy="4241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3329"/>
                </a:solidFill>
                <a:latin typeface="微软雅黑"/>
              </a:rPr>
              <a:t>6+7月 两月</a:t>
            </a:r>
            <a:r>
              <a:rPr lang="zh-CN" sz="2200" b="1">
                <a:solidFill>
                  <a:srgbClr val="0F3329"/>
                </a:solidFill>
                <a:latin typeface="微软雅黑"/>
              </a:rPr>
              <a:t>情况</a:t>
            </a:r>
            <a:endParaRPr lang="zh-CN" sz="2200" b="1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02920" y="5852160"/>
            <a:ext cx="11155680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6025515"/>
            <a:ext cx="10972800" cy="24765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517"/>
                </a:solidFill>
                <a:latin typeface="微软雅黑"/>
              </a:rPr>
              <a:t>建议：</a:t>
            </a:r>
            <a:r>
              <a:rPr sz="1150" b="0">
                <a:solidFill>
                  <a:srgbClr val="FFFFFF"/>
                </a:solidFill>
                <a:latin typeface="微软雅黑"/>
              </a:rPr>
              <a:t>王龙宇/杨子豪 </a:t>
            </a:r>
            <a:r>
              <a:rPr lang="zh-CN" sz="1150" b="0">
                <a:solidFill>
                  <a:srgbClr val="FFFFFF"/>
                </a:solidFill>
                <a:latin typeface="微软雅黑"/>
              </a:rPr>
              <a:t>两</a:t>
            </a:r>
            <a:r>
              <a:rPr sz="1150" b="0">
                <a:solidFill>
                  <a:srgbClr val="FFFFFF"/>
                </a:solidFill>
                <a:latin typeface="微软雅黑"/>
              </a:rPr>
              <a:t>人</a:t>
            </a:r>
            <a:r>
              <a:rPr lang="en-US" sz="1150" b="0">
                <a:solidFill>
                  <a:srgbClr val="FFFFFF"/>
                </a:solidFill>
                <a:latin typeface="微软雅黑"/>
              </a:rPr>
              <a:t>8</a:t>
            </a:r>
            <a:r>
              <a:rPr sz="1150" b="0">
                <a:solidFill>
                  <a:srgbClr val="FFFFFF"/>
                </a:solidFill>
                <a:latin typeface="微软雅黑"/>
              </a:rPr>
              <a:t>月重点观察；</a:t>
            </a:r>
            <a:r>
              <a:rPr lang="zh-CN" altLang="en-US" sz="1150" b="0">
                <a:solidFill>
                  <a:srgbClr val="FFFFFF"/>
                </a:solidFill>
                <a:latin typeface="微软雅黑"/>
              </a:rPr>
              <a:t>杨子豪</a:t>
            </a:r>
            <a:r>
              <a:rPr lang="zh-CN" sz="1150" b="0">
                <a:solidFill>
                  <a:srgbClr val="FFFFFF"/>
                </a:solidFill>
                <a:latin typeface="微软雅黑"/>
              </a:rPr>
              <a:t>均分</a:t>
            </a:r>
            <a:r>
              <a:rPr lang="en-US" altLang="zh-CN" sz="1150" b="0">
                <a:solidFill>
                  <a:srgbClr val="FFFFFF"/>
                </a:solidFill>
                <a:latin typeface="微软雅黑"/>
              </a:rPr>
              <a:t>：3.55，</a:t>
            </a:r>
            <a:r>
              <a:rPr lang="zh-CN" altLang="en-US" sz="1150" b="0">
                <a:solidFill>
                  <a:srgbClr val="FFFFFF"/>
                </a:solidFill>
                <a:latin typeface="微软雅黑"/>
              </a:rPr>
              <a:t>王龙宇均分</a:t>
            </a:r>
            <a:r>
              <a:rPr lang="en-US" altLang="zh-CN" sz="1150" b="0">
                <a:solidFill>
                  <a:srgbClr val="FFFFFF"/>
                </a:solidFill>
                <a:latin typeface="微软雅黑"/>
              </a:rPr>
              <a:t>：3.05</a:t>
            </a:r>
            <a:endParaRPr lang="en-US" altLang="zh-CN" sz="1150" b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6565392"/>
            <a:ext cx="9144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微软雅黑"/>
              </a:rPr>
              <a:t>Service Team 月度复盘 · 6月 vs 7月 · 2026</a:t>
            </a:r>
            <a:endParaRPr sz="900" b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698480" y="656539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Segoe UI"/>
              </a:rPr>
              <a:t>5 / 6</a:t>
            </a:r>
            <a:endParaRPr sz="900" b="0">
              <a:solidFill>
                <a:srgbClr val="FFFFFF"/>
              </a:solidFill>
              <a:latin typeface="Segoe UI"/>
            </a:endParaRPr>
          </a:p>
        </p:txBody>
      </p:sp>
      <p:pic>
        <p:nvPicPr>
          <p:cNvPr id="69" name="图片 68" descr="6月表现评分报告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275" y="1055370"/>
            <a:ext cx="4226420" cy="4680000"/>
          </a:xfrm>
          <a:prstGeom prst="rect">
            <a:avLst/>
          </a:prstGeom>
        </p:spPr>
      </p:pic>
      <p:pic>
        <p:nvPicPr>
          <p:cNvPr id="70" name="图片 69" descr="monthly-report-july-20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350" y="1060450"/>
            <a:ext cx="3849734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594360" cy="594360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9436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05</a:t>
            </a:r>
            <a:endParaRPr sz="2200" b="1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65760"/>
            <a:ext cx="7315200" cy="4241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2200" b="1">
                <a:solidFill>
                  <a:srgbClr val="0F3329"/>
                </a:solidFill>
                <a:latin typeface="微软雅黑"/>
              </a:rPr>
              <a:t>警示</a:t>
            </a:r>
            <a:r>
              <a:rPr lang="zh-CN" sz="2200" b="1">
                <a:solidFill>
                  <a:srgbClr val="0F3329"/>
                </a:solidFill>
                <a:latin typeface="微软雅黑"/>
              </a:rPr>
              <a:t>⚠️</a:t>
            </a:r>
            <a:endParaRPr lang="zh-CN" sz="2200" b="1">
              <a:solidFill>
                <a:srgbClr val="0F3329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55680" cy="18288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045" cy="4911090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2150" y="1606868"/>
            <a:ext cx="8235950" cy="151257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sz="3200" b="1">
                <a:solidFill>
                  <a:srgbClr val="FFFFFF"/>
                </a:solidFill>
                <a:latin typeface="微软雅黑"/>
              </a:rPr>
              <a:t>任何情况下不要弄虚作假</a:t>
            </a:r>
            <a:r>
              <a:rPr lang="en-US" altLang="zh-CN" sz="3200" b="1">
                <a:solidFill>
                  <a:srgbClr val="FFFFFF"/>
                </a:solidFill>
                <a:latin typeface="微软雅黑"/>
              </a:rPr>
              <a:t>！</a:t>
            </a:r>
            <a:endParaRPr lang="en-US" altLang="zh-CN" sz="3200" b="1">
              <a:solidFill>
                <a:srgbClr val="FFFFFF"/>
              </a:solidFill>
              <a:latin typeface="微软雅黑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200" b="1">
                <a:solidFill>
                  <a:srgbClr val="FFFFFF"/>
                </a:solidFill>
                <a:latin typeface="微软雅黑"/>
              </a:rPr>
              <a:t>不要因为任何原因打业绩或者换业绩给到全职</a:t>
            </a:r>
            <a:r>
              <a:rPr lang="en-US" altLang="zh-CN" sz="3200" b="1">
                <a:solidFill>
                  <a:srgbClr val="FFFFFF"/>
                </a:solidFill>
                <a:latin typeface="微软雅黑"/>
              </a:rPr>
              <a:t>！</a:t>
            </a:r>
            <a:endParaRPr lang="en-US" altLang="zh-CN" sz="32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3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565392"/>
            <a:ext cx="9144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微软雅黑"/>
              </a:rPr>
              <a:t>Service Team 月度复盘 · 6月 vs 7月 · 2026</a:t>
            </a:r>
            <a:endParaRPr sz="900" b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698480" y="6565392"/>
            <a:ext cx="13716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Segoe UI"/>
              </a:rPr>
              <a:t>6 / 6</a:t>
            </a:r>
            <a:endParaRPr sz="900" b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8" name="TextBox 9"/>
          <p:cNvSpPr txBox="1"/>
          <p:nvPr/>
        </p:nvSpPr>
        <p:spPr>
          <a:xfrm>
            <a:off x="1962150" y="3567431"/>
            <a:ext cx="8235950" cy="225107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sz="3200" b="1">
                <a:solidFill>
                  <a:srgbClr val="FFFFFF"/>
                </a:solidFill>
                <a:latin typeface="微软雅黑"/>
              </a:rPr>
              <a:t>田佳乐</a:t>
            </a:r>
            <a:r>
              <a:rPr lang="en-US" altLang="zh-CN" sz="3200" b="1">
                <a:solidFill>
                  <a:srgbClr val="FFFFFF"/>
                </a:solidFill>
                <a:latin typeface="微软雅黑"/>
              </a:rPr>
              <a:t>，</a:t>
            </a:r>
            <a:r>
              <a:rPr lang="zh-CN" altLang="en-US" sz="3200" b="1">
                <a:solidFill>
                  <a:srgbClr val="FFFFFF"/>
                </a:solidFill>
                <a:latin typeface="微软雅黑"/>
              </a:rPr>
              <a:t>王靳毓</a:t>
            </a:r>
            <a:endParaRPr lang="zh-CN" altLang="en-US" sz="3200" b="1">
              <a:solidFill>
                <a:srgbClr val="FFFFFF"/>
              </a:solidFill>
              <a:latin typeface="微软雅黑"/>
            </a:endParaRPr>
          </a:p>
          <a:p>
            <a:pPr algn="ctr">
              <a:lnSpc>
                <a:spcPct val="150000"/>
              </a:lnSpc>
            </a:pPr>
            <a:r>
              <a:rPr lang="en-US" altLang="zh-CN" sz="3200" b="1">
                <a:solidFill>
                  <a:srgbClr val="FFFFFF"/>
                </a:solidFill>
                <a:latin typeface="微软雅黑"/>
              </a:rPr>
              <a:t>8</a:t>
            </a:r>
            <a:r>
              <a:rPr lang="zh-CN" altLang="en-US" sz="3200" b="1">
                <a:solidFill>
                  <a:srgbClr val="FFFFFF"/>
                </a:solidFill>
                <a:latin typeface="微软雅黑"/>
              </a:rPr>
              <a:t>月份降为仓库兼职</a:t>
            </a:r>
            <a:r>
              <a:rPr lang="en-US" altLang="zh-CN" sz="3200" b="1">
                <a:solidFill>
                  <a:srgbClr val="FFFFFF"/>
                </a:solidFill>
                <a:latin typeface="微软雅黑"/>
              </a:rPr>
              <a:t>，</a:t>
            </a:r>
            <a:r>
              <a:rPr lang="zh-CN" altLang="en-US" sz="3200" b="1">
                <a:solidFill>
                  <a:srgbClr val="FFFFFF"/>
                </a:solidFill>
                <a:latin typeface="微软雅黑"/>
              </a:rPr>
              <a:t>需至少提供</a:t>
            </a:r>
            <a:r>
              <a:rPr lang="en-US" altLang="zh-CN" sz="3200" b="1">
                <a:solidFill>
                  <a:srgbClr val="FFFFFF"/>
                </a:solidFill>
                <a:latin typeface="微软雅黑"/>
              </a:rPr>
              <a:t>64</a:t>
            </a:r>
            <a:r>
              <a:rPr lang="zh-CN" altLang="en-US" sz="3200" b="1">
                <a:solidFill>
                  <a:srgbClr val="FFFFFF"/>
                </a:solidFill>
                <a:latin typeface="微软雅黑"/>
              </a:rPr>
              <a:t>小时工时后才能重返</a:t>
            </a:r>
            <a:r>
              <a:rPr lang="en-US" altLang="zh-CN" sz="3200" b="1">
                <a:solidFill>
                  <a:srgbClr val="FFFFFF"/>
                </a:solidFill>
                <a:latin typeface="微软雅黑"/>
              </a:rPr>
              <a:t>Service team</a:t>
            </a:r>
            <a:r>
              <a:rPr lang="zh-CN" altLang="en-US" sz="3200" b="1">
                <a:solidFill>
                  <a:srgbClr val="FFFFFF"/>
                </a:solidFill>
                <a:latin typeface="微软雅黑"/>
              </a:rPr>
              <a:t>行列</a:t>
            </a:r>
            <a:r>
              <a:rPr lang="en-US" altLang="zh-CN" sz="3200" b="1">
                <a:solidFill>
                  <a:srgbClr val="FFFFFF"/>
                </a:solidFill>
                <a:latin typeface="微软雅黑"/>
              </a:rPr>
              <a:t>。</a:t>
            </a:r>
            <a:endParaRPr lang="en-US" altLang="zh-CN" sz="3200" b="1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1516</Words>
  <Application>WPS 表格</Application>
  <PresentationFormat>On-screen Show (4:3)</PresentationFormat>
  <Paragraphs>232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5" baseType="lpstr">
      <vt:lpstr>Arial</vt:lpstr>
      <vt:lpstr>宋体</vt:lpstr>
      <vt:lpstr>Wingdings</vt:lpstr>
      <vt:lpstr>Arial</vt:lpstr>
      <vt:lpstr>Segoe UI</vt:lpstr>
      <vt:lpstr>Thonburi</vt:lpstr>
      <vt:lpstr>微软雅黑</vt:lpstr>
      <vt:lpstr>Calibri</vt:lpstr>
      <vt:lpstr>Helvetica Neue</vt:lpstr>
      <vt:lpstr>宋体</vt:lpstr>
      <vt:lpstr>汉仪书宋二KW</vt:lpstr>
      <vt:lpstr>汉仪旗黑</vt:lpstr>
      <vt:lpstr>微软雅黑</vt:lpstr>
      <vt:lpstr>Arial Unicode MS</vt:lpstr>
      <vt:lpstr>Segoe UI</vt:lpstr>
      <vt:lpstr>微软雅黑</vt:lpstr>
      <vt:lpstr>苹方-简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a86137</cp:lastModifiedBy>
  <cp:revision>2</cp:revision>
  <dcterms:created xsi:type="dcterms:W3CDTF">2026-08-03T12:56:29Z</dcterms:created>
  <dcterms:modified xsi:type="dcterms:W3CDTF">2026-08-03T12:56:29Z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64FE49A135FD1320FD8F706AB421F43B_42</vt:lpwstr>
  </property>
</Properties>
</file>