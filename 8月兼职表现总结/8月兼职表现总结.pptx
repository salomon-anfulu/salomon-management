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charts/chart2.xml" ContentType="application/vnd.openxmlformats-officedocument.drawingml.char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14" Type="http://schemas.openxmlformats.org/officeDocument/2006/relationships/viewProps" Target="viewProps.xml" /><Relationship Id="rId13" Type="http://schemas.openxmlformats.org/officeDocument/2006/relationships/tableStyles" Target="tableStyles.xml" /><Relationship Id="rId12" Type="http://schemas.openxmlformats.org/officeDocument/2006/relationships/presProps" Target="presProps.xml" /><Relationship Id="rId11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7" Type="http://schemas.openxmlformats.org/officeDocument/2006/relationships/slide" Target="slides/slide7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c="http://schemas.openxmlformats.org/drawingml/2006/chart" xmlns:a="http://schemas.openxmlformats.org/drawingml/2006/main"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C08A5E"/>
            </a:solidFill>
          </c:spPr>
          <c:dLbls>
            <c:txPr>
              <a:bodyPr/>
              <a:p>
                <a:pPr>
                  <a:defRPr sz="750">
                    <a:solidFill>
                      <a:srgbClr val="3E2F2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6"/>
                <c:pt idx="0">
                  <c:v>≥¥250/h</c:v>
                </c:pt>
                <c:pt idx="1">
                  <c:v>¥150–250</c:v>
                </c:pt>
                <c:pt idx="2">
                  <c:v>¥100–150</c:v>
                </c:pt>
                <c:pt idx="3">
                  <c:v>¥50–100</c:v>
                </c:pt>
                <c:pt idx="4">
                  <c:v>&lt;¥50</c:v>
                </c:pt>
                <c:pt idx="5">
                  <c:v>¥0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4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6B5B4B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6B5B4B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dispBlanksAs val="gap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C08A5E"/>
            </a:solidFill>
          </c:spPr>
          <c:dLbls>
            <c:txPr>
              <a:bodyPr/>
              <a:p>
                <a:pPr>
                  <a:defRPr sz="750">
                    <a:solidFill>
                      <a:srgbClr val="3E2F23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12"/>
                <c:pt idx="0">
                  <c:v>龚赟昊</c:v>
                </c:pt>
                <c:pt idx="1">
                  <c:v>梁实秋</c:v>
                </c:pt>
                <c:pt idx="2">
                  <c:v>王龙宇</c:v>
                </c:pt>
                <c:pt idx="3">
                  <c:v>王雅澜</c:v>
                </c:pt>
                <c:pt idx="4">
                  <c:v>孔祥宇</c:v>
                </c:pt>
                <c:pt idx="5">
                  <c:v>何秋烨</c:v>
                </c:pt>
                <c:pt idx="6">
                  <c:v>迟骋</c:v>
                </c:pt>
                <c:pt idx="7">
                  <c:v>唐蓉</c:v>
                </c:pt>
                <c:pt idx="8">
                  <c:v>贾长乐</c:v>
                </c:pt>
                <c:pt idx="9">
                  <c:v>邓奇缘</c:v>
                </c:pt>
                <c:pt idx="10">
                  <c:v>杨子豪</c:v>
                </c:pt>
                <c:pt idx="11">
                  <c:v>朱凯赟</c:v>
                </c:pt>
              </c:strCache>
            </c:strRef>
          </c:cat>
          <c:val>
            <c:numRef>
              <c:numCache>
                <c:formatCode>General</c:formatCode>
                <c:ptCount val="12"/>
                <c:pt idx="0">
                  <c:v>12688</c:v>
                </c:pt>
                <c:pt idx="1">
                  <c:v>9990</c:v>
                </c:pt>
                <c:pt idx="2">
                  <c:v>9242</c:v>
                </c:pt>
                <c:pt idx="3">
                  <c:v>8690</c:v>
                </c:pt>
                <c:pt idx="4">
                  <c:v>7266</c:v>
                </c:pt>
                <c:pt idx="5">
                  <c:v>5692</c:v>
                </c:pt>
                <c:pt idx="6">
                  <c:v>4486</c:v>
                </c:pt>
                <c:pt idx="7">
                  <c:v>3992</c:v>
                </c:pt>
                <c:pt idx="8">
                  <c:v>3394</c:v>
                </c:pt>
                <c:pt idx="9">
                  <c:v>998</c:v>
                </c:pt>
                <c:pt idx="10">
                  <c:v>696</c:v>
                </c:pt>
                <c:pt idx="11">
                  <c:v>398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6B5B4B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6B5B4B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// P01 · 封面&#10;&lt;Slide&gt;&#10;    {/* L1 主视觉：暖砂色沙丘脊线全幅背景 */}&#10;    &lt;Image&#10;        src=&quot;assets/cover_ridge.png&quot;&#10;        style={{ width: '100%', height: '100%', objectFit: 'cover' }}&#10;    /&gt;&#10;&#10;    {/* 左侧骑线色块：深咖棕 → 透明的渐变叠层，保证文字可读 */}&#10;    &lt;Box style={{&#10;        position: 'absolute', left: 0, top: 0,&#10;        width: 760, height: 720,&#10;        background: 'linear-gradient(90deg, rgba(62,47,35,0.82) 0%, rgba(62,47,35,0.55) 55%, rgba(62,47,35,0.0) 100%)',&#10;    }} /&gt;&#10;&#10;    {/* 顶部小角标：英文标识 */}&#10;    &lt;Box style={{&#10;        position: 'absolute', left: 80, top: 80,&#10;        flexDirection: 'row', alignItems: 'center', gap: 16,&#10;    }}&gt;&#10;        &lt;Box style={{&#10;            width: 48, height: 2,&#10;            background: '#C08A5E',&#10;        }} /&gt;&#10;        &lt;Text style={{&#10;            fontSize: 16, color: '#C08A5E',&#10;            letterSpacing: 6, fontWeight: 600,&#10;        }}&gt;&#10;            SALOMON · ANFULU L140&#10;        &lt;/Text&gt;&#10;    &lt;/Box&gt;&#10;&#10;    {/* 中央主标题区 */}&#10;    &lt;Box style={{&#10;        position: 'absolute', left: 80, top: 220,&#10;        flexDirection: 'column', gap: 28,&#10;    }}&gt;&#10;        &lt;Text style={{&#10;            fontSize: 22, color: 'rgba(245,239,230,0.75)',&#10;            letterSpacing: 4, fontWeight: 500,&#10;        }}&gt;&#10;            MONTHLY REVIEW · AUG 2026&#10;        &lt;/Text&gt;&#10;        &lt;Text style={{&#10;            fontSize: 72, color: '#F5EFE6',&#10;            fontWeight: 'bold', lineHeight: 1.15,&#10;        }}&gt;&#10;            8月兼职表现总结&#10;        &lt;/Text&gt;&#10;        &lt;Text style={{&#10;            fontSize: 26, color: 'rgba(245,239,230,0.9)',&#10;            fontWeight: 500, lineHeight: 1.4,&#10;        }}&gt;&#10;            安福路旗舰店 · 2026年8月&#10;        &lt;/Text&gt;&#10;    &lt;/Box&gt;&#10;&#10;    {/* 底部关键指标带 */}&#10;    &lt;Box style={{&#10;        position: 'absolute', left: 80, bottom: 90,&#10;        flexDirection: 'row', alignItems: 'center', gap: 24,&#10;    }}&gt;&#10;        &lt;Text style={{&#10;            fontSize: 18, color: 'rgba(245,239,230,0.85)',&#10;            fontWeight: 500, letterSpacing: 2,&#10;        }}&gt;&#10;            15人团队&#10;        &lt;/Text&gt;&#10;        &lt;Box style={{ width: 1, height: 18, background: 'rgba(192,138,94,0.6)' }} /&gt;&#10;        &lt;Text style={{&#10;            fontSize: 18, color: 'rgba(245,239,230,0.85)',&#10;            fontWeight: 500, letterSpacing: 2,&#10;        }}&gt;&#10;            634.5h 工时&#10;        &lt;/Text&gt;&#10;        &lt;Box style={{ width: 1, height: 18, background: 'rgba(192,138,94,0.6)' }} /&gt;&#10;        &lt;Text style={{&#10;            fontSize: 18, color: 'rgba(245,239,230,0.85)',&#10;            fontWeight: 500, letterSpacing: 2,&#10;        }}&gt;&#10;            五维评分复盘&#10;        &lt;/Text&gt;&#10;    &lt;/Box&gt;&#10;&#10;    {/* 右下 L3 角标 */}&#10;    &lt;Box style={{&#10;        position: 'absolute', right: 60, bottom: 36,&#10;        flexDirection: 'row', alignItems: 'center', gap: 12,&#10;    }}&gt;&#10;        &lt;Box style={{&#10;            width: 28, height: 1,&#10;            background: 'rgba(192,138,94,0.7)',&#10;        }} /&gt;&#10;        &lt;Text style={{&#10;            fontSize: 12, color: 'rgba(245,239,230,0.6)',&#10;            letterSpacing: 4, fontWeight: 500,&#10;        }}&gt;&#10;            SALOMON ANFULU · STORE L14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1"/>
          <a:srcRect l="0" t="10601" r="0" b="1060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"/>
          <p:cNvSpPr/>
          <p:nvPr/>
        </p:nvSpPr>
        <p:spPr>
          <a:xfrm rot="0" flipH="0" flipV="0">
            <a:off x="0" y="0"/>
            <a:ext cx="7239000" cy="6858000"/>
          </a:xfrm>
          <a:prstGeom prst="rect">
            <a:avLst/>
          </a:prstGeom>
          <a:gradFill>
            <a:gsLst>
              <a:gs pos="0">
                <a:srgbClr val="3E2F23">
                  <a:alpha val="82000"/>
                </a:srgbClr>
              </a:gs>
              <a:gs pos="55000">
                <a:srgbClr val="3E2F23">
                  <a:alpha val="55000"/>
                </a:srgbClr>
              </a:gs>
              <a:gs pos="100000">
                <a:srgbClr val="3E2F23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762000" y="847725"/>
            <a:ext cx="457200" cy="19050"/>
          </a:xfrm>
          <a:prstGeom prst="rect">
            <a:avLst/>
          </a:prstGeom>
          <a:solidFill>
            <a:srgbClr val="C08A5E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371600" y="762000"/>
            <a:ext cx="3133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450">
                <a:solidFill>
                  <a:srgbClr val="C08A5E"/>
                </a:solidFill>
                <a:latin typeface="Microsoft YaHei"/>
                <a:ea typeface="Microsoft YaHei"/>
              </a:rPr>
              <a:t>SALOMON · ANFULU L140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095500"/>
            <a:ext cx="5191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300">
                <a:solidFill>
                  <a:srgbClr val="F5EFE6">
                    <a:alpha val="75000"/>
                  </a:srgbClr>
                </a:solidFill>
                <a:latin typeface="Microsoft YaHei"/>
                <a:ea typeface="Microsoft YaHei"/>
              </a:rPr>
              <a:t>MONTHLY REVIEW · AUG 2026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619375"/>
            <a:ext cx="5191125" cy="9525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5400" b="1">
                <a:solidFill>
                  <a:srgbClr val="F5EFE6"/>
                </a:solidFill>
                <a:latin typeface="Microsoft YaHei"/>
                <a:ea typeface="Microsoft YaHei"/>
              </a:rPr>
              <a:t>8</a:t>
            </a:r>
            <a:r>
              <a:rPr lang="zh-CN" sz="5400" b="1">
                <a:solidFill>
                  <a:srgbClr val="F5EFE6"/>
                </a:solidFill>
                <a:latin typeface="Microsoft YaHei"/>
                <a:ea typeface="Microsoft YaHei"/>
              </a:rPr>
              <a:t>月兼职表现总结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3838575"/>
            <a:ext cx="5191125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>
                <a:solidFill>
                  <a:srgbClr val="F5EFE6">
                    <a:alpha val="90000"/>
                  </a:srgbClr>
                </a:solidFill>
                <a:latin typeface="Microsoft YaHei"/>
                <a:ea typeface="Microsoft YaHei"/>
              </a:rPr>
              <a:t>安福路旗舰店</a:t>
            </a:r>
            <a:r>
              <a:rPr lang="en-US" sz="1950">
                <a:solidFill>
                  <a:srgbClr val="F5EFE6">
                    <a:alpha val="90000"/>
                  </a:srgbClr>
                </a:solidFill>
                <a:latin typeface="Microsoft YaHei"/>
                <a:ea typeface="Microsoft YaHei"/>
              </a:rPr>
              <a:t> · 2026</a:t>
            </a:r>
            <a:r>
              <a:rPr lang="zh-CN" sz="1950">
                <a:solidFill>
                  <a:srgbClr val="F5EFE6">
                    <a:alpha val="90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950">
                <a:solidFill>
                  <a:srgbClr val="F5EFE6">
                    <a:alpha val="90000"/>
                  </a:srgbClr>
                </a:solidFill>
                <a:latin typeface="Microsoft YaHei"/>
                <a:ea typeface="Microsoft YaHei"/>
              </a:rPr>
              <a:t>8</a:t>
            </a:r>
            <a:r>
              <a:rPr lang="zh-CN" sz="1950">
                <a:solidFill>
                  <a:srgbClr val="F5EFE6">
                    <a:alpha val="90000"/>
                  </a:srgbClr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5791200"/>
            <a:ext cx="809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15</a:t>
            </a:r>
            <a:r>
              <a:rPr lang="zh-CN" sz="1350" spc="1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人团队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800225" y="5810250"/>
            <a:ext cx="9525" cy="171450"/>
          </a:xfrm>
          <a:prstGeom prst="rect">
            <a:avLst/>
          </a:prstGeom>
          <a:solidFill>
            <a:srgbClr val="C08A5E">
              <a:alpha val="60000"/>
            </a:srgbClr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038350" y="5791200"/>
            <a:ext cx="1095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634.5h </a:t>
            </a:r>
            <a:r>
              <a:rPr lang="zh-CN" sz="1350" spc="1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工时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362325" y="5810250"/>
            <a:ext cx="9525" cy="171450"/>
          </a:xfrm>
          <a:prstGeom prst="rect">
            <a:avLst/>
          </a:prstGeom>
          <a:solidFill>
            <a:srgbClr val="C08A5E">
              <a:alpha val="60000"/>
            </a:srgbClr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5791200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五维评分复盘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8362950" y="6438900"/>
            <a:ext cx="266700" cy="9525"/>
          </a:xfrm>
          <a:prstGeom prst="rect">
            <a:avLst/>
          </a:prstGeom>
          <a:solidFill>
            <a:srgbClr val="C08A5E">
              <a:alpha val="70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743950" y="6372225"/>
            <a:ext cx="2876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300">
                <a:solidFill>
                  <a:srgbClr val="F5EFE6">
                    <a:alpha val="60000"/>
                  </a:srgbClr>
                </a:solidFill>
                <a:latin typeface="Microsoft YaHei"/>
                <a:ea typeface="Microsoft YaHei"/>
              </a:rPr>
              <a:t>SALOMON ANFULU · STORE L140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7" name="" descr="// P02 · 目录&#10;&lt;Slide&gt;&#10;    {/* 背景：暖砂色 */}&#10;    &lt;Box style={{&#10;        position: 'absolute', left: 0, top: 0,&#10;        width: '100%', height: '100%',&#10;        background: '#F5EFE6',&#10;    }} /&gt;&#10;&#10;    {/* 左侧 8% 暖驼色装饰条 */}&#10;    &lt;Box style={{&#10;        position: 'absolute', left: 0, top: 0,&#10;        width: 8, height: '100%',&#10;        background: 'linear-gradient(180deg, #3E2F23 0%, #C08A5E 100%)',&#10;    }} /&gt;&#10;&#10;    {/* A 块：标题 */}&#10;    &lt;Box style={{&#10;        position: 'absolute', left: 60, top: 36, right: 60, height: 64,&#10;        flexDirection: 'row', alignItems: 'center', justifyContent: 'space-between',&#10;    }}&gt;&#10;        &lt;Text style={{&#10;            fontSize: 36, fontWeight: 'bold', color: '#3E2F23',&#10;        }}&gt;&#10;            本期目录&#10;        &lt;/Text&gt;&#10;        &lt;Text style={{&#10;            fontSize: 18, color: '#6B5B4B',&#10;            letterSpacing: 4, fontWeight: 500,&#10;        }}&gt;&#10;            CONTENTS · 2 CHAPTERS&#10;        &lt;/Text&gt;&#10;    &lt;/Box&gt;&#10;&#10;    {/* B 块：左标题 + 右内容 */}&#10;    &lt;Box style={{&#10;        position: 'absolute', left: 60, top: 140, right: 60, height: 500,&#10;        flexDirection: 'row', gap: 48,&#10;    }}&gt;&#10;        {/* 左侧 30% 大字锚点 */}&#10;        &lt;Box style={{&#10;            width: 360, height: '100%',&#10;            flexDirection: 'column', justifyContent: 'center',&#10;        }}&gt;&#10;            &lt;Text style={{&#10;                fontSize: 96, fontWeight: 'bold', color: '#3E2F23',&#10;                lineHeight: 1.0, letterSpacing: -2,&#10;            }}&gt;&#10;                Contents&#10;            &lt;/Text&gt;&#10;            &lt;Box style={{&#10;                width: 64, height: 3,&#10;                background: '#D65A3F',&#10;                marginTop: 32, marginBottom: 24,&#10;            }} /&gt;&#10;            &lt;Text style={{&#10;                fontSize: 18, color: '#6B5B4B', lineHeight: 1.6,&#10;            }}&gt;&#10;                8 月份兼职团队 5 维评分的完整复盘。{&quot;\n&quot;}&#10;                先看盘子，再看结构，最后看行动。&#10;            &lt;/Text&gt;&#10;        &lt;/Box&gt;&#10;&#10;        {/* 右侧 70% 两章列表 */}&#10;        &lt;Box style={{&#10;            flex: 1, height: '100%',&#10;            flexDirection: 'column', gap: 24,&#10;        }}&gt;&#10;            {/* 章节 01 */}&#10;            &lt;Box style={{&#10;                flex: 1,&#10;                background: '#FFFFFF',&#10;                borderRadius: 12,&#10;                padding: 28,&#10;                flexDirection: 'column', gap: 16,&#10;                borderLeft: '4px solid #3E2F23',&#10;            }}&gt;&#10;                &lt;Box style={{&#10;                    flexDirection: 'row', alignItems: 'center', justifyContent: 'space-between',&#10;                }}&gt;&#10;                    &lt;Box style={{ flexDirection: 'row', alignItems: 'center', gap: 16 }}&gt;&#10;                        &lt;Text style={{&#10;                            fontSize: 48, fontWeight: 'bold', color: '#3E2F23',&#10;                            fontFamily: 'Arial, Helvetica Neue, sans-serif',&#10;                        }}&gt;&#10;                            01&#10;                        &lt;/Text&gt;&#10;                        &lt;Text style={{&#10;                            fontSize: 24, fontWeight: 'bold', color: '#3E2F23',&#10;                        }}&gt;&#10;                            团队总盘&#10;                        &lt;/Text&gt;&#10;                    &lt;/Box&gt;&#10;                    &lt;Text style={{&#10;                        fontSize: 14, color: '#C08A5E', letterSpacing: 2,&#10;                    }}&gt;&#10;                        CHAPTER 01 · P.04—06&#10;                    &lt;/Text&gt;&#10;                &lt;/Box&gt;&#10;                &lt;Text style={{ fontSize: 16, color: '#6B5B4B', lineHeight: 1.6 }}&gt;&#10;                    8 月的销售盘子与时产结构：核心数据、人效分布、业绩贡献排行&#10;                &lt;/Text&gt;&#10;            &lt;/Box&gt;&#10;&#10;            {/* 章节 02 */}&#10;            &lt;Box style={{&#10;                flex: 1,&#10;                background: '#FFFFFF',&#10;                borderRadius: 12,&#10;                padding: 28,&#10;                flexDirection: 'column', gap: 16,&#10;                borderLeft: '4px solid #D65A3F',&#10;            }}&gt;&#10;                &lt;Box style={{&#10;                    flexDirection: 'row', alignItems: 'center', justifyContent: 'space-between',&#10;                }}&gt;&#10;                    &lt;Box style={{ flexDirection: 'row', alignItems: 'center', gap: 16 }}&gt;&#10;                        &lt;Text style={{&#10;                            fontSize: 48, fontWeight: 'bold', color: '#D65A3F',&#10;                            fontFamily: 'Arial, Helvetica Neue, sans-serif',&#10;                        }}&gt;&#10;                            02&#10;                        &lt;/Text&gt;&#10;                        &lt;Text style={{&#10;                            fontSize: 24, fontWeight: 'bold', color: '#3E2F23',&#10;                        }}&gt;&#10;                            诊断与行动&#10;                        &lt;/Text&gt;&#10;                    &lt;/Box&gt;&#10;                    &lt;Text style={{&#10;                        fontSize: 14, color: '#C08A5E', letterSpacing: 2,&#10;                    }}&gt;&#10;                        CHAPTER 02 · P.08—09&#10;                    &lt;/Text&gt;&#10;                &lt;/Box&gt;&#10;                &lt;Text style={{ fontSize: 16, color: '#6B5B4B', lineHeight: 1.6 }}&gt;&#10;                    三个结构性问题与 9 月四项行动建议：把数据转译为可执行的下一步&#10;                &lt;/Text&gt;&#10;            &lt;/Box&gt;&#10;        &lt;/Box&gt;&#10;    &lt;/Box&gt;&#10;&#10;    {/* C 块：页脚条 */}&#10;    &lt;Box style={{&#10;        position: 'absolute', left: 60, right: 60, bottom: 20, height: 24,&#10;        flexDirection: 'row', alignItems: 'center', justifyContent: 'space-between',&#10;    }}&gt;&#10;        &lt;Text style={{ fontSize: 14, color: '#6B5B4B' }}&gt;&#10;            安福路 Salomon 兼职管理 · 8月复盘&#10;        &lt;/Text&gt;&#10;        &lt;Text style={{&#10;            fontSize: 14, color: '#6B5B4B',&#10;            fontFamily: 'Arial, Helvetica Neue, sans-serif',&#10;        }}&gt;&#10;            02 / 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FE6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E2F23"/>
              </a:gs>
              <a:gs pos="100000">
                <a:srgbClr val="C08A5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3E2F23"/>
                </a:solidFill>
                <a:latin typeface="Microsoft YaHei"/>
                <a:ea typeface="Microsoft YaHei"/>
              </a:rPr>
              <a:t>本期目录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639175" y="542925"/>
            <a:ext cx="2981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6B5B4B"/>
                </a:solidFill>
                <a:latin typeface="Microsoft YaHei"/>
                <a:ea typeface="Microsoft YaHei"/>
              </a:rPr>
              <a:t>CONTENTS · 2 CHAPTERS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71500" y="2552700"/>
            <a:ext cx="3810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150">
                <a:solidFill>
                  <a:srgbClr val="3E2F23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71500" y="3962400"/>
            <a:ext cx="609600" cy="28575"/>
          </a:xfrm>
          <a:prstGeom prst="rect">
            <a:avLst/>
          </a:prstGeom>
          <a:solidFill>
            <a:srgbClr val="D65A3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71500" y="4219575"/>
            <a:ext cx="342900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6B5B4B"/>
                </a:solidFill>
                <a:latin typeface="Microsoft YaHei"/>
                <a:ea typeface="Microsoft YaHei"/>
              </a:rPr>
              <a:t>8 </a:t>
            </a:r>
            <a:r>
              <a:rPr lang="zh-CN" sz="1350">
                <a:solidFill>
                  <a:srgbClr val="6B5B4B"/>
                </a:solidFill>
                <a:latin typeface="Microsoft YaHei"/>
                <a:ea typeface="Microsoft YaHei"/>
              </a:rPr>
              <a:t>月份兼职团队</a:t>
            </a:r>
            <a:r>
              <a:rPr lang="en-US" sz="1350">
                <a:solidFill>
                  <a:srgbClr val="6B5B4B"/>
                </a:solidFill>
                <a:latin typeface="Microsoft YaHei"/>
                <a:ea typeface="Microsoft YaHei"/>
              </a:rPr>
              <a:t> 5 </a:t>
            </a:r>
            <a:r>
              <a:rPr lang="zh-CN" sz="1350">
                <a:solidFill>
                  <a:srgbClr val="6B5B4B"/>
                </a:solidFill>
                <a:latin typeface="Microsoft YaHei"/>
                <a:ea typeface="Microsoft YaHei"/>
              </a:rPr>
              <a:t>维评分的完整复盘。</a:t>
            </a:r>
            <a:endParaRPr/>
          </a:p>
          <a:p>
            <a:pPr>
              <a:lnSpc>
                <a:spcPct val="160000"/>
              </a:lnSpc>
            </a:pPr>
            <a:r>
              <a:rPr lang="zh-CN" sz="1350">
                <a:solidFill>
                  <a:srgbClr val="6B5B4B"/>
                </a:solidFill>
                <a:latin typeface="Microsoft YaHei"/>
                <a:ea typeface="Microsoft YaHei"/>
              </a:rPr>
              <a:t>先看盘子，再看结构，最后看行动。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495800" y="1333500"/>
            <a:ext cx="71628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4495800" y="1333500"/>
            <a:ext cx="7162800" cy="2266950"/>
          </a:xfrm>
          <a:custGeom>
            <a:pathLst>
              <a:path w="752" h="23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30"/>
                </a:lnTo>
                <a:cubicBezTo>
                  <a:pt x="4" y="234"/>
                  <a:pt x="7" y="237"/>
                  <a:pt x="10" y="238"/>
                </a:cubicBezTo>
                <a:cubicBezTo>
                  <a:pt x="4" y="237"/>
                  <a:pt x="0" y="232"/>
                  <a:pt x="0" y="22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E2F23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762500" y="1600200"/>
            <a:ext cx="5143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E2F23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429250" y="17430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E2F23"/>
                </a:solidFill>
                <a:latin typeface="Microsoft YaHei"/>
                <a:ea typeface="Microsoft YaHei"/>
              </a:rPr>
              <a:t>团队总盘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467850" y="1800225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C08A5E"/>
                </a:solidFill>
                <a:latin typeface="Microsoft YaHei"/>
                <a:ea typeface="Microsoft YaHei"/>
              </a:rPr>
              <a:t>CHAPTER 01 · P.04—06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762500" y="2305050"/>
            <a:ext cx="65913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8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月的销售盘子与时产结构：核心数据、人效分布、业绩贡献排行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495800" y="3829050"/>
            <a:ext cx="71628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4495800" y="3829050"/>
            <a:ext cx="7162800" cy="2266950"/>
          </a:xfrm>
          <a:custGeom>
            <a:pathLst>
              <a:path w="752" h="23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30"/>
                </a:lnTo>
                <a:cubicBezTo>
                  <a:pt x="4" y="234"/>
                  <a:pt x="7" y="237"/>
                  <a:pt x="10" y="238"/>
                </a:cubicBezTo>
                <a:cubicBezTo>
                  <a:pt x="4" y="237"/>
                  <a:pt x="0" y="232"/>
                  <a:pt x="0" y="22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65A3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762500" y="4095750"/>
            <a:ext cx="5143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65A3F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429250" y="423862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3E2F23"/>
                </a:solidFill>
                <a:latin typeface="Microsoft YaHei"/>
                <a:ea typeface="Microsoft YaHei"/>
              </a:rPr>
              <a:t>诊断与行动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467850" y="4295775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C08A5E"/>
                </a:solidFill>
                <a:latin typeface="Microsoft YaHei"/>
                <a:ea typeface="Microsoft YaHei"/>
              </a:rPr>
              <a:t>CHAPTER 02 · P.08—09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762500" y="4800600"/>
            <a:ext cx="65913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三个结构性问题与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月四项行动建议：把数据转译为可执行的下一步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71500" y="64770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安福路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Salomon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兼职管理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· 8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月复盘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210925" y="64770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5B4B"/>
                </a:solidFill>
                <a:latin typeface="Arial"/>
                <a:ea typeface="Arial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 descr="// P03 · 章节扉页 01&#10;&lt;Slide&gt;&#10;    {/* L1 主视觉：俯瞰沙丘足迹图全幅背景 */}&#10;    &lt;Image&#10;        src=&quot;assets/team_paths.png&quot;&#10;        style={{ width: '100%', height: '100%', objectFit: 'cover' }}&#10;    /&gt;&#10;&#10;    {/* 全幅深棕蒙版，保证文字可读 */}&#10;    &lt;Box style={{&#10;        position: 'absolute', left: 0, top: 0,&#10;        width: '100%', height: '100%',&#10;        background: 'linear-gradient(135deg, rgba(62,47,35,0.72) 0%, rgba(62,47,35,0.45) 60%, rgba(62,47,35,0.25) 100%)',&#10;    }} /&gt;&#10;&#10;    {/* 顶部章节标签 */}&#10;    &lt;Box style={{&#10;        position: 'absolute', left: 80, top: 80,&#10;        flexDirection: 'row', alignItems: 'center', gap: 20,&#10;    }}&gt;&#10;        &lt;Box style={{&#10;            width: 56, height: 2,&#10;            background: '#C08A5E',&#10;        }} /&gt;&#10;        &lt;Text style={{&#10;            fontSize: 18, color: '#C08A5E',&#10;            letterSpacing: 6, fontWeight: 600,&#10;        }}&gt;&#10;            CHAPTER · 01&#10;        &lt;/Text&gt;&#10;    &lt;/Box&gt;&#10;&#10;    {/* 中央：96px 章节编号 + 36px 副标 */}&#10;    &lt;Box style={{&#10;        position: 'absolute', left: 80, top: 200,&#10;        flexDirection: 'column', gap: 16,&#10;    }}&gt;&#10;        &lt;Text style={{&#10;            fontSize: 120, fontWeight: 'bold', color: '#F5EFE6',&#10;            lineHeight: 1.0, letterSpacing: -4,&#10;            fontFamily: 'Arial, Helvetica Neue, sans-serif',&#10;        }}&gt;&#10;            01&#10;        &lt;/Text&gt;&#10;        &lt;Text style={{&#10;            fontSize: 48, fontWeight: 'bold', color: '#F5EFE6',&#10;            lineHeight: 1.2, letterSpacing: 2,&#10;        }}&gt;&#10;            团队总盘&#10;        &lt;/Text&gt;&#10;    &lt;/Box&gt;&#10;&#10;    {/* 底部章节要点带 */}&#10;    &lt;Box style={{&#10;        position: 'absolute', left: 80, bottom: 110,&#10;        flexDirection: 'row', alignItems: 'center', gap: 32,&#10;    }}&gt;&#10;        &lt;Text style={{&#10;            fontSize: 18, color: 'rgba(245,239,230,0.85)',&#10;            fontWeight: 500, letterSpacing: 1,&#10;        }}&gt;&#10;            15 人在册&#10;        &lt;/Text&gt;&#10;        &lt;Box style={{ width: 1, height: 16, background: 'rgba(192,138,94,0.6)' }} /&gt;&#10;        &lt;Text style={{&#10;            fontSize: 18, color: 'rgba(245,239,230,0.85)',&#10;            fontWeight: 500, letterSpacing: 1,&#10;        }}&gt;&#10;            634.5 小时投入&#10;        &lt;/Text&gt;&#10;        &lt;Box style={{ width: 1, height: 16, background: 'rgba(192,138,94,0.6)' }} /&gt;&#10;        &lt;Text style={{&#10;            fontSize: 18, color: 'rgba(245,239,230,0.85)',&#10;            fontWeight: 500, letterSpacing: 1,&#10;        }}&gt;&#10;            ¥67,532 营收&#10;        &lt;/Text&gt;&#10;    &lt;/Box&gt;&#10;&#10;    {/* 装饰右下英文小标 */}&#10;    &lt;Box style={{&#10;        position: 'absolute', right: 80, bottom: 80,&#10;        flexDirection: 'column', alignItems: 'flex-end', gap: 8,&#10;    }}&gt;&#10;        &lt;Text style={{&#10;            fontSize: 14, color: 'rgba(245,239,230,0.55)',&#10;            letterSpacing: 4, fontWeight: 500,&#10;        }}&gt;&#10;            TEAM OVERVIEW&#10;        &lt;/Text&gt;&#10;        &lt;Text style={{&#10;            fontSize: 14, color: 'rgba(245,239,230,0.4)',&#10;            fontFamily: 'Arial, Helvetica Neue, sans-serif',&#10;        }}&gt;&#10;            03 / 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"/>
          <p:cNvPicPr>
            <a:picLocks noChangeAspect="1"/>
          </p:cNvPicPr>
          <p:nvPr/>
        </p:nvPicPr>
        <p:blipFill>
          <a:blip r:embed="rId1"/>
          <a:srcRect l="0" t="10601" r="0" b="1060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E2F23">
                  <a:alpha val="72000"/>
                </a:srgbClr>
              </a:gs>
              <a:gs pos="60000">
                <a:srgbClr val="3E2F23">
                  <a:alpha val="45000"/>
                </a:srgbClr>
              </a:gs>
              <a:gs pos="100000">
                <a:srgbClr val="3E2F23">
                  <a:alpha val="2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762000" y="857250"/>
            <a:ext cx="533400" cy="19050"/>
          </a:xfrm>
          <a:prstGeom prst="rect">
            <a:avLst/>
          </a:prstGeom>
          <a:solidFill>
            <a:srgbClr val="C08A5E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485900" y="762000"/>
            <a:ext cx="1866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C08A5E"/>
                </a:solidFill>
                <a:latin typeface="Microsoft YaHei"/>
                <a:ea typeface="Microsoft YaHei"/>
              </a:rPr>
              <a:t>CHAPTER · 01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19050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 spc="-300">
                <a:solidFill>
                  <a:srgbClr val="F5EFE6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62000" y="3429000"/>
            <a:ext cx="190500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 spc="150">
                <a:solidFill>
                  <a:srgbClr val="F5EFE6"/>
                </a:solidFill>
                <a:latin typeface="Microsoft YaHei"/>
                <a:ea typeface="Microsoft YaHei"/>
              </a:rPr>
              <a:t>团队总盘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62000" y="5600700"/>
            <a:ext cx="81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15 </a:t>
            </a:r>
            <a:r>
              <a:rPr lang="zh-CN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人在册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1885950" y="5629275"/>
            <a:ext cx="9525" cy="152400"/>
          </a:xfrm>
          <a:prstGeom prst="rect">
            <a:avLst/>
          </a:prstGeom>
          <a:solidFill>
            <a:srgbClr val="C08A5E">
              <a:alpha val="60000"/>
            </a:srgbClr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200275" y="5600700"/>
            <a:ext cx="1266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634.5 </a:t>
            </a:r>
            <a:r>
              <a:rPr lang="zh-CN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小时投入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771900" y="5629275"/>
            <a:ext cx="9525" cy="152400"/>
          </a:xfrm>
          <a:prstGeom prst="rect">
            <a:avLst/>
          </a:prstGeom>
          <a:solidFill>
            <a:srgbClr val="C08A5E">
              <a:alpha val="60000"/>
            </a:srgbClr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086225" y="5600700"/>
            <a:ext cx="1114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¥67,532 </a:t>
            </a:r>
            <a:r>
              <a:rPr lang="zh-CN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营收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801225" y="5695950"/>
            <a:ext cx="162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F5EFE6">
                    <a:alpha val="55000"/>
                  </a:srgbClr>
                </a:solidFill>
                <a:latin typeface="Microsoft YaHei"/>
                <a:ea typeface="Microsoft YaHei"/>
              </a:rPr>
              <a:t>TEAM OVERVIEW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020425" y="5934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EFE6">
                    <a:alpha val="40000"/>
                  </a:srgbClr>
                </a:solidFill>
                <a:latin typeface="Arial"/>
                <a:ea typeface="Arial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63" name="" descr="// P04 · 8月核心数据总览（Hero）&#10;&lt;Slide&gt;&#10;    {/* 背景：暖砂 */}&#10;    &lt;Box style={{&#10;        position: 'absolute', left: 0, top: 0,&#10;        width: '100%', height: '100%',&#10;        background: '#F5EFE6',&#10;    }} /&gt;&#10;&#10;    {/* 左侧 8% 暖驼色装饰条 */}&#10;    &lt;Box style={{&#10;        position: 'absolute', left: 0, top: 0,&#10;        width: 8, height: '100%',&#10;        background: 'linear-gradient(180deg, #3E2F23 0%, #C08A5E 100%)',&#10;    }} /&gt;&#10;&#10;    {/* 右上陶土红强调色块（L1 视觉辅佐） */}&#10;    &lt;Box style={{&#10;        position: 'absolute', right: 0, top: 0,&#10;        width: 200, height: 200,&#10;        background: 'linear-gradient(135deg, #D65A3F 0%, transparent 70%)',&#10;        opacity: 0.18,&#10;    }} /&gt;&#10;&#10;    {/* A 块：标题 */}&#10;    &lt;Box style={{&#10;        position: 'absolute', left: 60, top: 36, right: 60, height: 64,&#10;        flexDirection: 'row', alignItems: 'center', justifyContent: 'space-between',&#10;    }}&gt;&#10;        &lt;Text style={{&#10;            fontSize: 36, fontWeight: 'bold', color: '#3E2F23',&#10;        }}&gt;&#10;            8月核心数据总览&#10;        &lt;/Text&gt;&#10;        &lt;Text style={{&#10;            fontSize: 16, color: '#6B5B4B', letterSpacing: 4, fontWeight: 500,&#10;        }}&gt;&#10;            KEY METRICS · AUG 2026&#10;        &lt;/Text&gt;&#10;    &lt;/Box&gt;&#10;&#10;    {/* B 块：核心数字 + 7 指标 + 洞察 */}&#10;    &lt;Box style={{&#10;        position: 'absolute', left: 60, top: 140, right: 60, height: 500,&#10;        flexDirection: 'column', gap: 16,&#10;    }}&gt;&#10;        {/* 副标签 + 巨型数字 */}&#10;        &lt;Box style={{&#10;            alignItems: 'center', justifyContent: 'center',&#10;            height: 180,&#10;        }}&gt;&#10;            &lt;Text style={{&#10;                fontSize: 18, color: '#6B5B4B',&#10;                letterSpacing: 4, fontWeight: 500, marginBottom: 12,&#10;            }}&gt;&#10;                8月兼职团队总销售额&#10;            &lt;/Text&gt;&#10;            &lt;Box style={{ flexDirection: 'row', alignItems: 'baseline', gap: 12 }}&gt;&#10;                &lt;Text style={{&#10;                    fontSize: 32, color: '#D65A3F', fontWeight: 'bold',&#10;                    fontFamily: 'Arial, Helvetica Neue, sans-serif',&#10;                }}&gt;&#10;                    ¥&#10;                &lt;/Text&gt;&#10;                &lt;Text style={{&#10;                    fontSize: 128, color: '#3E2F23', fontWeight: 'bold',&#10;                    lineHeight: 1.0, letterSpacing: -2,&#10;                    fontFamily: 'Arial, Helvetica Neue, sans-serif',&#10;                }}&gt;&#10;                    67,532&#10;                &lt;/Text&gt;&#10;            &lt;/Box&gt;&#10;        &lt;/Box&gt;&#10;&#10;        {/* 4 主指标卡 */}&#10;        &lt;Box style={{&#10;            flexDirection: 'row', gap: 16,&#10;            justifyContent: 'center',&#10;        }}&gt;&#10;            {[&#10;                { num: '61', unit: '件', label: '销售件数' },&#10;                { num: '46', unit: '票', label: '成交小票' },&#10;                { num: '¥1,468', unit: '', label: '客单价' },&#10;                { num: '1.33', unit: '', label: 'UPT' },&#10;            ].map((m, i) =&gt; (&#10;                &lt;Box key={i} style={{&#10;                    width: 240, height: 96,&#10;                    background: '#FFFFFF',&#10;                    borderRadius: 10,&#10;                    padding: 16,&#10;                    flexDirection: 'column', justifyContent: 'center', alignItems: 'center',&#10;                    boxShadow: '0 4px 16px rgba(62,47,35,0.08)',&#10;                }}&gt;&#10;                    &lt;Box style={{ flexDirection: 'row', alignItems: 'baseline', gap: 4 }}&gt;&#10;                        &lt;Text style={{&#10;                            fontSize: 36, fontWeight: 'bold', color: '#3E2F23',&#10;                            fontFamily: 'Arial, Helvetica Neue, sans-serif',&#10;                        }}&gt;&#10;                            {m.num}&#10;                        &lt;/Text&gt;&#10;                        {m.unit ? (&#10;                            &lt;Text style={{&#10;                                fontSize: 16, color: '#6B5B4B', fontWeight: 500,&#10;                            }}&gt;&#10;                                {m.unit}&#10;                            &lt;/Text&gt;&#10;                        ) : null}&#10;                    &lt;/Box&gt;&#10;                    &lt;Text style={{&#10;                        fontSize: 14, color: '#6B5B4B',&#10;                        letterSpacing: 1, marginTop: 4,&#10;                    }}&gt;&#10;                        {m.label}&#10;                    &lt;/Text&gt;&#10;                &lt;/Box&gt;&#10;            ))}&#10;        &lt;/Box&gt;&#10;&#10;        {/* 3 副指标条 */}&#10;        &lt;Box style={{&#10;            flexDirection: 'row', gap: 24,&#10;            justifyContent: 'center',&#10;        }}&gt;&#10;            {[&#10;                { num: '12', label: '人有产出' },&#10;                { num: '634.5h', label: '总工时' },&#10;                { num: '9', label: '条顾客好评' },&#10;            ].map((m, i) =&gt; (&#10;                &lt;Box key={i} style={{&#10;                    width: 200, height: 56,&#10;                    flexDirection: 'row', alignItems: 'center', justifyContent: 'center', gap: 12,&#10;                    background: 'rgba(192,138,94,0.12)',&#10;                    borderRadius: 8,&#10;                }}&gt;&#10;                    &lt;Text style={{&#10;                        fontSize: 24, fontWeight: 'bold', color: '#3E2F23',&#10;                        fontFamily: 'Arial, Helvetica Neue, sans-serif',&#10;                    }}&gt;&#10;                        {m.num}&#10;                    &lt;/Text&gt;&#10;                    &lt;Text style={{ fontSize: 16, color: '#6B5B4B' }}&gt;&#10;                        {m.label}&#10;                    &lt;/Text&gt;&#10;                &lt;/Box&gt;&#10;            ))}&#10;        &lt;/Box&gt;&#10;&#10;        {/* 洞察条 */}&#10;        &lt;Box style={{&#10;            height: 70, padding: 18, paddingLeft: 24, paddingRight: 24,&#10;            background: '#3E2F23',&#10;            borderRadius: 10,&#10;            flexDirection: 'row', alignItems: 'center', gap: 20,&#10;        }}&gt;&#10;            &lt;Box style={{&#10;                width: 4, height: 36,&#10;                background: '#D65A3F',&#10;            }} /&gt;&#10;            &lt;Text style={{&#10;                fontSize: 18, color: '#F5EFE6', lineHeight: 1.5,&#10;            }}&gt;&#10;                15人 × 634.5小时 = ¥6.75万营收，团队整体时产&#10;                &lt;span style={{ color: '#D65A3F', fontWeight: 'bold', fontSize: 22 }}&gt; ¥106/h &lt;/span&gt;&#10;                —— 盘子是稳的，结构才是下一章要解的事&#10;            &lt;/Text&gt;&#10;        &lt;/Box&gt;&#10;    &lt;/Box&gt;&#10;&#10;    {/* C 块：页脚条 */}&#10;    &lt;Box style={{&#10;        position: 'absolute', left: 60, right: 60, bottom: 20, height: 24,&#10;        flexDirection: 'row', alignItems: 'center', justifyContent: 'space-between',&#10;    }}&gt;&#10;        &lt;Text style={{ fontSize: 14, color: '#6B5B4B' }}&gt;&#10;            安福路 Salomon 兼职管理 · 8月复盘&#10;        &lt;/Text&gt;&#10;        &lt;Text style={{&#10;            fontSize: 14, color: '#6B5B4B',&#10;            fontFamily: 'Arial, Helvetica Neue, sans-serif',&#10;        }}&gt;&#10;            04 / 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FE6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E2F23"/>
              </a:gs>
              <a:gs pos="100000">
                <a:srgbClr val="C08A5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10287000" y="0"/>
            <a:ext cx="1905000" cy="1905000"/>
          </a:xfrm>
          <a:prstGeom prst="rect">
            <a:avLst/>
          </a:prstGeom>
          <a:gradFill>
            <a:gsLst>
              <a:gs pos="0">
                <a:srgbClr val="D65A3F">
                  <a:alpha val="18000"/>
                </a:srgbClr>
              </a:gs>
              <a:gs pos="7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26003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E2F23"/>
                </a:solidFill>
                <a:latin typeface="Microsoft YaHei"/>
                <a:ea typeface="Microsoft YaHei"/>
              </a:rPr>
              <a:t>8</a:t>
            </a:r>
            <a:r>
              <a:rPr lang="zh-CN" sz="2700" b="1">
                <a:solidFill>
                  <a:srgbClr val="3E2F23"/>
                </a:solidFill>
                <a:latin typeface="Microsoft YaHei"/>
                <a:ea typeface="Microsoft YaHei"/>
              </a:rPr>
              <a:t>月核心数据总览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896350" y="55245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6B5B4B"/>
                </a:solidFill>
                <a:latin typeface="Microsoft YaHei"/>
                <a:ea typeface="Microsoft YaHei"/>
              </a:rPr>
              <a:t>KEY METRICS · AUG 2026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086350" y="1295400"/>
            <a:ext cx="2028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6B5B4B"/>
                </a:solidFill>
                <a:latin typeface="Microsoft YaHei"/>
                <a:ea typeface="Microsoft YaHei"/>
              </a:rPr>
              <a:t>8</a:t>
            </a:r>
            <a:r>
              <a:rPr lang="zh-CN" sz="1350" spc="300">
                <a:solidFill>
                  <a:srgbClr val="6B5B4B"/>
                </a:solidFill>
                <a:latin typeface="Microsoft YaHei"/>
                <a:ea typeface="Microsoft YaHei"/>
              </a:rPr>
              <a:t>月兼职团队总销售额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143375" y="1619250"/>
            <a:ext cx="17145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 b="1">
                <a:solidFill>
                  <a:srgbClr val="D65A3F"/>
                </a:solidFill>
                <a:latin typeface="Arial"/>
                <a:ea typeface="Arial"/>
              </a:rPr>
              <a:t>¥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429125" y="1619250"/>
            <a:ext cx="36195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 spc="-150">
                <a:solidFill>
                  <a:srgbClr val="3E2F23"/>
                </a:solidFill>
                <a:latin typeface="Arial"/>
                <a:ea typeface="Arial"/>
              </a:rPr>
              <a:t>67,532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1295400" y="3200400"/>
            <a:ext cx="22860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152650" y="3352800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E2F23"/>
                </a:solidFill>
                <a:latin typeface="Arial"/>
                <a:ea typeface="Arial"/>
              </a:rPr>
              <a:t>61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581275" y="3352800"/>
            <a:ext cx="152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件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2152650" y="381000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B5B4B"/>
                </a:solidFill>
                <a:latin typeface="Microsoft YaHei"/>
                <a:ea typeface="Microsoft YaHei"/>
              </a:rPr>
              <a:t>销售件数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3733800" y="3200400"/>
            <a:ext cx="22860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591050" y="3352800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E2F23"/>
                </a:solidFill>
                <a:latin typeface="Arial"/>
                <a:ea typeface="Arial"/>
              </a:rPr>
              <a:t>46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019675" y="3352800"/>
            <a:ext cx="152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票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591050" y="381000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B5B4B"/>
                </a:solidFill>
                <a:latin typeface="Microsoft YaHei"/>
                <a:ea typeface="Microsoft YaHei"/>
              </a:rPr>
              <a:t>成交小票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172200" y="3200400"/>
            <a:ext cx="22860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791325" y="3352800"/>
            <a:ext cx="10572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E2F23"/>
                </a:solidFill>
                <a:latin typeface="Arial"/>
                <a:ea typeface="Arial"/>
              </a:rPr>
              <a:t>¥1,468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105650" y="38100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B5B4B"/>
                </a:solidFill>
                <a:latin typeface="Microsoft YaHei"/>
                <a:ea typeface="Microsoft YaHei"/>
              </a:rPr>
              <a:t>客单价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8610600" y="3200400"/>
            <a:ext cx="22860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420225" y="3352800"/>
            <a:ext cx="6762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E2F23"/>
                </a:solidFill>
                <a:latin typeface="Arial"/>
                <a:ea typeface="Arial"/>
              </a:rPr>
              <a:t>1.33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610725" y="3810000"/>
            <a:ext cx="295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6B5B4B"/>
                </a:solidFill>
                <a:latin typeface="Microsoft YaHei"/>
                <a:ea typeface="Microsoft YaHei"/>
              </a:rPr>
              <a:t>UPT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3009900" y="4267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C08A5E">
              <a:alpha val="12000"/>
            </a:srgbClr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476625" y="4400550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E2F23"/>
                </a:solidFill>
                <a:latin typeface="Arial"/>
                <a:ea typeface="Arial"/>
              </a:rPr>
              <a:t>12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848100" y="4438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人有产出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143500" y="4267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C08A5E">
              <a:alpha val="12000"/>
            </a:srgbClr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457825" y="4400550"/>
            <a:ext cx="714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E2F23"/>
                </a:solidFill>
                <a:latin typeface="Arial"/>
                <a:ea typeface="Arial"/>
              </a:rPr>
              <a:t>634.5h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286500" y="44386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总工时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7277100" y="4267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C08A5E">
              <a:alpha val="12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724775" y="4400550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E2F23"/>
                </a:solidFill>
                <a:latin typeface="Arial"/>
                <a:ea typeface="Arial"/>
              </a:rPr>
              <a:t>9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972425" y="44386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条顾客好评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571500" y="4953000"/>
            <a:ext cx="11049000" cy="666750"/>
          </a:xfrm>
          <a:prstGeom prst="roundRect">
            <a:avLst>
              <a:gd name="adj" fmla="val 14286"/>
            </a:avLst>
          </a:prstGeom>
          <a:solidFill>
            <a:srgbClr val="3E2F23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800100" y="5114925"/>
            <a:ext cx="38100" cy="342900"/>
          </a:xfrm>
          <a:prstGeom prst="rect">
            <a:avLst/>
          </a:prstGeom>
          <a:solidFill>
            <a:srgbClr val="D65A3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28700" y="5095875"/>
            <a:ext cx="774382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F5EFE6"/>
                </a:solidFill>
                <a:latin typeface="Microsoft YaHei"/>
                <a:ea typeface="Microsoft YaHei"/>
              </a:rPr>
              <a:t>15</a:t>
            </a:r>
            <a:r>
              <a:rPr lang="zh-CN" sz="1350">
                <a:solidFill>
                  <a:srgbClr val="F5EFE6"/>
                </a:solidFill>
                <a:latin typeface="Microsoft YaHei"/>
                <a:ea typeface="Microsoft YaHei"/>
              </a:rPr>
              <a:t>人</a:t>
            </a:r>
            <a:r>
              <a:rPr lang="en-US" sz="1350">
                <a:solidFill>
                  <a:srgbClr val="F5EFE6"/>
                </a:solidFill>
                <a:latin typeface="Microsoft YaHei"/>
                <a:ea typeface="Microsoft YaHei"/>
              </a:rPr>
              <a:t> × 634.5</a:t>
            </a:r>
            <a:r>
              <a:rPr lang="zh-CN" sz="1350">
                <a:solidFill>
                  <a:srgbClr val="F5EFE6"/>
                </a:solidFill>
                <a:latin typeface="Microsoft YaHei"/>
                <a:ea typeface="Microsoft YaHei"/>
              </a:rPr>
              <a:t>小时</a:t>
            </a:r>
            <a:r>
              <a:rPr lang="en-US" sz="1350">
                <a:solidFill>
                  <a:srgbClr val="F5EFE6"/>
                </a:solidFill>
                <a:latin typeface="Microsoft YaHei"/>
                <a:ea typeface="Microsoft YaHei"/>
              </a:rPr>
              <a:t> = ¥6.75</a:t>
            </a:r>
            <a:r>
              <a:rPr lang="zh-CN" sz="1350">
                <a:solidFill>
                  <a:srgbClr val="F5EFE6"/>
                </a:solidFill>
                <a:latin typeface="Microsoft YaHei"/>
                <a:ea typeface="Microsoft YaHei"/>
              </a:rPr>
              <a:t>万营收，团队整体时产</a:t>
            </a:r>
            <a:r>
              <a:rPr lang="en-US" sz="1650" b="1">
                <a:solidFill>
                  <a:srgbClr val="D65A3F"/>
                </a:solidFill>
                <a:latin typeface="Microsoft YaHei"/>
                <a:ea typeface="Microsoft YaHei"/>
              </a:rPr>
              <a:t> ¥106/h </a:t>
            </a:r>
            <a:r>
              <a:rPr lang="en-US" sz="1350">
                <a:solidFill>
                  <a:srgbClr val="F5EFE6"/>
                </a:solidFill>
                <a:latin typeface="Microsoft YaHei"/>
                <a:ea typeface="Microsoft YaHei"/>
              </a:rPr>
              <a:t>—— </a:t>
            </a:r>
            <a:r>
              <a:rPr lang="zh-CN" sz="1350">
                <a:solidFill>
                  <a:srgbClr val="F5EFE6"/>
                </a:solidFill>
                <a:latin typeface="Microsoft YaHei"/>
                <a:ea typeface="Microsoft YaHei"/>
              </a:rPr>
              <a:t>盘子是稳的，结构才是下一章要解的事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1500" y="64770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安福路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Salomon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兼职管理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· 8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月复盘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210925" y="64770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5B4B"/>
                </a:solidFill>
                <a:latin typeface="Arial"/>
                <a:ea typeface="Arial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 descr="// P05 · 人效与工时结构&#10;&lt;Slide&gt;&#10;    {/* 背景：暖砂 */}&#10;    &lt;Box style={{&#10;        position: 'absolute', left: 0, top: 0,&#10;        width: '100%', height: '100%',&#10;        background: '#F5EFE6',&#10;    }} /&gt;&#10;&#10;    {/* A 块：标题 */}&#10;    &lt;Box style={{&#10;        position: 'absolute', left: 60, top: 36, right: 60, height: 64,&#10;        flexDirection: 'row', alignItems: 'center', justifyContent: 'space-between',&#10;    }}&gt;&#10;        &lt;Text style={{&#10;            fontSize: 36, fontWeight: 'bold', color: '#3E2F23',&#10;        }}&gt;&#10;            人效与工时结构&#10;        &lt;/Text&gt;&#10;        &lt;Text style={{&#10;            fontSize: 16, color: '#6B5B4B', letterSpacing: 4, fontWeight: 500,&#10;        }}&gt;&#10;            EFFICIENCY &amp; HOURS&#10;        &lt;/Text&gt;&#10;    &lt;/Box&gt;&#10;&#10;    {/* 副标 */}&#10;    &lt;Text style={{&#10;        position: 'absolute', left: 60, top: 110, right: 60,&#10;        fontSize: 16, color: '#6B5B4B', lineHeight: 1.5,&#10;    }}&gt;&#10;        15 名兼职按&quot;每小时产出&quot;分档：高位头部 + 长尾底部，团队整体时产 ¥106/h&#10;    &lt;/Text&gt;&#10;&#10;    {/* B 块：左图 + 右洞察 */}&#10;    &lt;Box style={{&#10;        position: 'absolute', left: 60, top: 156, right: 60, height: 480,&#10;        flexDirection: 'row', gap: 24,&#10;    }}&gt;&#10;        {/* 左侧 60% 图表 */}&#10;        &lt;Box style={{&#10;            width: 676, height: '100%',&#10;            background: '#FFFFFF',&#10;            borderRadius: 12,&#10;            padding: 20,&#10;            flexDirection: 'column',&#10;            boxShadow: '0 4px 16px rgba(62,47,35,0.06)',&#10;        }}&gt;&#10;            &lt;Text style={{&#10;                fontSize: 18, fontWeight: 'bold', color: '#3E2F23', marginBottom: 8,&#10;            }}&gt;&#10;                时产分档人数分布&#10;            &lt;/Text&gt;&#10;            &lt;Text style={{&#10;                fontSize: 13, color: '#6B5B4B', marginBottom: 16,&#10;            }}&gt;&#10;                按&quot;销售额 / 出勤小时&quot;分档（n=15）&#10;            &lt;/Text&gt;&#10;            &lt;Box style={{ flex: 1 }}&gt;&#10;                &lt;Chart&#10;                    style={{ width: '100%', height: '100%' }}&#10;                    chartType='barChart'&#10;                    barDirection='column'&#10;                    showLegend={false}&#10;                    showDataLabels={true}&#10;                    dataLabelColor='#3E2F23'&#10;                    axisColor='#6B5B4B'&#10;                    colors={['#C08A5E']}&#10;                    background='transparent'&#10;                    data={[&#10;                        ['时产分档', '人数'],&#10;                        ['≥¥250/h', 2],&#10;                        ['¥150–250', 1],&#10;                        ['¥100–150', 4],&#10;                        ['¥50–100', 2],&#10;                        ['&lt;¥50', 3],&#10;                        ['¥0', 3],&#10;                    ]}&#10;                /&gt;&#10;            &lt;/Box&gt;&#10;        &lt;/Box&gt;&#10;&#10;        {/* 右侧 40% 洞察 */}&#10;        &lt;Box style={{&#10;            flex: 1, height: '100%',&#10;            flexDirection: 'column', gap: 16,&#10;        }}&gt;&#10;            {/* 洞察1：时产结构 */}&#10;            &lt;Box style={{&#10;                flex: 1,&#10;                background: '#FFFFFF',&#10;                borderRadius: 12,&#10;                padding: 18,&#10;                flexDirection: 'column', gap: 8,&#10;                borderTop: '3px solid #3E2F23',&#10;            }}&gt;&#10;                &lt;Text style={{&#10;                    fontSize: 13, color: '#C08A5E',&#10;                    letterSpacing: 2, fontWeight: 600,&#10;                }}&gt;&#10;                    INSIGHT · 01&#10;                &lt;/Text&gt;&#10;                &lt;Text style={{&#10;                    fontSize: 22, fontWeight: 'bold', color: '#3E2F23',&#10;                }}&gt;&#10;                    团队时产 ¥106/h&#10;                &lt;/Text&gt;&#10;                &lt;Text style={{&#10;                    fontSize: 15, color: '#6B5B4B', lineHeight: 1.55,&#10;                }}&gt;&#10;                    头部 2 人（≥¥250/h）拉高均值，6 人处于&#10;                    &lt;span style={{ color: '#D65A3F', fontWeight: 'bold' }}&gt; ¥50–150 中段 &lt;/span&gt;&#10;                    ，3 人接近 0 形成长尾底部。&#10;                &lt;/Text&gt;&#10;            &lt;/Box&gt;&#10;&#10;            {/* 洞察2：零产出工时 */}&#10;            &lt;Box style={{&#10;                flex: 1,&#10;                background: '#FFFFFF',&#10;                borderRadius: 12,&#10;                padding: 18,&#10;                flexDirection: 'column', gap: 8,&#10;                borderTop: '3px solid #C08A5E',&#10;            }}&gt;&#10;                &lt;Text style={{&#10;                    fontSize: 13, color: '#C08A5E',&#10;                    letterSpacing: 2, fontWeight: 600,&#10;                }}&gt;&#10;                    INSIGHT · 02&#10;                &lt;/Text&gt;&#10;                &lt;Text style={{&#10;                    fontSize: 22, fontWeight: 'bold', color: '#3E2F23',&#10;                }}&gt;&#10;                    零产出工时 75h&#10;                &lt;/Text&gt;&#10;                &lt;Text style={{&#10;                    fontSize: 15, color: '#6B5B4B', lineHeight: 1.55,&#10;                }}&gt;&#10;                    占总工时&#10;                    &lt;span style={{ color: '#D65A3F', fontWeight: 'bold' }}&gt; 11.8% &lt;/span&gt;&#10;                    。这些时间被门迎、店务与摄影展服务吸收，是结构而非浪费。&#10;                &lt;/Text&gt;&#10;            &lt;/Box&gt;&#10;&#10;            {/* 洞察3：服务型工时 */}&#10;            &lt;Box style={{&#10;                flex: 1,&#10;                background: '#3E2F23',&#10;                borderRadius: 12,&#10;                padding: 18,&#10;                flexDirection: 'column', gap: 8,&#10;            }}&gt;&#10;                &lt;Text style={{&#10;                    fontSize: 13, color: '#C08A5E',&#10;                    letterSpacing: 2, fontWeight: 600,&#10;                }}&gt;&#10;                    INSIGHT · 03&#10;                &lt;/Text&gt;&#10;                &lt;Text style={{&#10;                    fontSize: 22, fontWeight: 'bold', color: '#F5EFE6',&#10;                }}&gt;&#10;                    服务型工时 235h · 占 37%&#10;                &lt;/Text&gt;&#10;                &lt;Text style={{&#10;                    fontSize: 15, color: 'rgba(245,239,230,0.85)', lineHeight: 1.55,&#10;                }}&gt;&#10;                    门迎 131h + 店务 104h。这部分价值不体现在销售额里，9 月需把&#10;                    &lt;span style={{ color: '#C08A5E', fontWeight: 'bold' }}&gt; &quot;服务型&quot;与&quot;销售型&quot; &lt;/span&gt;&#10;                    分层评估。&#10;                &lt;/Text&gt;&#10;            &lt;/Box&gt;&#10;        &lt;/Box&gt;&#10;    &lt;/Box&gt;&#10;&#10;    {/* C 块：页脚条 */}&#10;    &lt;Box style={{&#10;        position: 'absolute', left: 60, right: 60, bottom: 20, height: 24,&#10;        flexDirection: 'row', alignItems: 'center', justifyContent: 'space-between',&#10;    }}&gt;&#10;        &lt;Text style={{ fontSize: 14, color: '#6B5B4B' }}&gt;&#10;            安福路 Salomon 兼职管理 · 8月复盘&#10;        &lt;/Text&gt;&#10;        &lt;Text style={{&#10;            fontSize: 14, color: '#6B5B4B',&#10;            fontFamily: 'Arial, Helvetica Neue, sans-serif',&#10;        }}&gt;&#10;            05 / 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FE6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3E2F23"/>
                </a:solidFill>
                <a:latin typeface="Microsoft YaHei"/>
                <a:ea typeface="Microsoft YaHei"/>
              </a:rPr>
              <a:t>人效与工时结构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286875" y="5524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6B5B4B"/>
                </a:solidFill>
                <a:latin typeface="Microsoft YaHei"/>
                <a:ea typeface="Microsoft YaHei"/>
              </a:rPr>
              <a:t>EFFICIENCY &amp; HOURS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71500" y="1047750"/>
            <a:ext cx="51244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15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名兼职按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每小时产出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分档：高位头部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长尾底部，团队整体时产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 ¥106/h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571500" y="1485900"/>
            <a:ext cx="64389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62000" y="1676400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E2F23"/>
                </a:solidFill>
                <a:latin typeface="Microsoft YaHei"/>
                <a:ea typeface="Microsoft YaHei"/>
              </a:rPr>
              <a:t>时产分档人数分布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62000" y="1962150"/>
            <a:ext cx="6057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5B4B"/>
                </a:solidFill>
                <a:latin typeface="Microsoft YaHei"/>
                <a:ea typeface="Microsoft YaHei"/>
              </a:rPr>
              <a:t>按</a:t>
            </a:r>
            <a:r>
              <a:rPr lang="en-US" sz="975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B5B4B"/>
                </a:solidFill>
                <a:latin typeface="Microsoft YaHei"/>
                <a:ea typeface="Microsoft YaHei"/>
              </a:rPr>
              <a:t>销售额</a:t>
            </a:r>
            <a:r>
              <a:rPr lang="en-US" sz="975">
                <a:solidFill>
                  <a:srgbClr val="6B5B4B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6B5B4B"/>
                </a:solidFill>
                <a:latin typeface="Microsoft YaHei"/>
                <a:ea typeface="Microsoft YaHei"/>
              </a:rPr>
              <a:t>出勤小时</a:t>
            </a:r>
            <a:r>
              <a:rPr lang="en-US" sz="975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6B5B4B"/>
                </a:solidFill>
                <a:latin typeface="Microsoft YaHei"/>
                <a:ea typeface="Microsoft YaHei"/>
              </a:rPr>
              <a:t>分档（</a:t>
            </a:r>
            <a:r>
              <a:rPr lang="en-US" sz="975">
                <a:solidFill>
                  <a:srgbClr val="6B5B4B"/>
                </a:solidFill>
                <a:latin typeface="Microsoft YaHei"/>
                <a:ea typeface="Microsoft YaHei"/>
              </a:rPr>
              <a:t>n=15</a:t>
            </a:r>
            <a:r>
              <a:rPr lang="zh-CN" sz="975">
                <a:solidFill>
                  <a:srgbClr val="6B5B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graphicFrame>
        <p:nvGraphicFramePr>
          <p:cNvPr id="108" name="108"/>
          <p:cNvGraphicFramePr/>
          <p:nvPr/>
        </p:nvGraphicFramePr>
        <p:xfrm rot="0" flipH="0" flipV="0">
          <a:off x="762000" y="2266950"/>
          <a:ext cx="6057900" cy="36004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09" name=""/>
          <p:cNvSpPr/>
          <p:nvPr/>
        </p:nvSpPr>
        <p:spPr>
          <a:xfrm rot="0" flipH="0" flipV="0">
            <a:off x="7239000" y="1514475"/>
            <a:ext cx="43815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7239000" y="1514475"/>
            <a:ext cx="4381500" cy="1466850"/>
          </a:xfrm>
          <a:custGeom>
            <a:pathLst>
              <a:path w="460" h="154">
                <a:moveTo>
                  <a:pt x="449" y="0"/>
                </a:moveTo>
                <a:cubicBezTo>
                  <a:pt x="454" y="0"/>
                  <a:pt x="459" y="4"/>
                  <a:pt x="460" y="9"/>
                </a:cubicBezTo>
                <a:cubicBezTo>
                  <a:pt x="458" y="6"/>
                  <a:pt x="455" y="3"/>
                  <a:pt x="451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448" y="0"/>
                </a:lnTo>
                <a:close/>
              </a:path>
            </a:pathLst>
          </a:custGeom>
          <a:solidFill>
            <a:srgbClr val="3E2F23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410450" y="1685925"/>
            <a:ext cx="4038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C08A5E"/>
                </a:solidFill>
                <a:latin typeface="Microsoft YaHei"/>
                <a:ea typeface="Microsoft YaHei"/>
              </a:rPr>
              <a:t>INSIGHT · 01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410450" y="1914525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F23"/>
                </a:solidFill>
                <a:latin typeface="Microsoft YaHei"/>
                <a:ea typeface="Microsoft YaHei"/>
              </a:rPr>
              <a:t>团队时产</a:t>
            </a:r>
            <a:r>
              <a:rPr lang="en-US" sz="1650" b="1">
                <a:solidFill>
                  <a:srgbClr val="3E2F23"/>
                </a:solidFill>
                <a:latin typeface="Microsoft YaHei"/>
                <a:ea typeface="Microsoft YaHei"/>
              </a:rPr>
              <a:t> ¥106/h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410450" y="2247900"/>
            <a:ext cx="4038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头部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 2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人（≥¥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250/h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）拉高均值，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6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人处于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¥50–150 </a:t>
            </a:r>
            <a:r>
              <a:rPr lang="zh-CN" sz="1125" b="1">
                <a:solidFill>
                  <a:srgbClr val="D65A3F"/>
                </a:solidFill>
                <a:latin typeface="Microsoft YaHei"/>
                <a:ea typeface="Microsoft YaHei"/>
              </a:rPr>
              <a:t>中段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3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人接近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 0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形成长尾底部。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7239000" y="3133725"/>
            <a:ext cx="43815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7239000" y="3133725"/>
            <a:ext cx="4381500" cy="1466850"/>
          </a:xfrm>
          <a:custGeom>
            <a:pathLst>
              <a:path w="460" h="154">
                <a:moveTo>
                  <a:pt x="449" y="0"/>
                </a:moveTo>
                <a:cubicBezTo>
                  <a:pt x="454" y="0"/>
                  <a:pt x="459" y="4"/>
                  <a:pt x="460" y="9"/>
                </a:cubicBezTo>
                <a:cubicBezTo>
                  <a:pt x="458" y="6"/>
                  <a:pt x="455" y="3"/>
                  <a:pt x="451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448" y="0"/>
                </a:lnTo>
                <a:close/>
              </a:path>
            </a:pathLst>
          </a:custGeom>
          <a:solidFill>
            <a:srgbClr val="C08A5E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410450" y="3305175"/>
            <a:ext cx="4038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C08A5E"/>
                </a:solidFill>
                <a:latin typeface="Microsoft YaHei"/>
                <a:ea typeface="Microsoft YaHei"/>
              </a:rPr>
              <a:t>INSIGHT · 02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410450" y="3533775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F23"/>
                </a:solidFill>
                <a:latin typeface="Microsoft YaHei"/>
                <a:ea typeface="Microsoft YaHei"/>
              </a:rPr>
              <a:t>零产出工时</a:t>
            </a:r>
            <a:r>
              <a:rPr lang="en-US" sz="1650" b="1">
                <a:solidFill>
                  <a:srgbClr val="3E2F23"/>
                </a:solidFill>
                <a:latin typeface="Microsoft YaHei"/>
                <a:ea typeface="Microsoft YaHei"/>
              </a:rPr>
              <a:t> 75h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410450" y="3867150"/>
            <a:ext cx="4038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占总工时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11.8%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。这些时间被门迎、店务与摄影展服务吸收，是结构而非浪费。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239000" y="4724400"/>
            <a:ext cx="4381500" cy="1438275"/>
          </a:xfrm>
          <a:prstGeom prst="roundRect">
            <a:avLst>
              <a:gd name="adj" fmla="val 7947"/>
            </a:avLst>
          </a:prstGeom>
          <a:solidFill>
            <a:srgbClr val="3E2F23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410450" y="4895850"/>
            <a:ext cx="4038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C08A5E"/>
                </a:solidFill>
                <a:latin typeface="Microsoft YaHei"/>
                <a:ea typeface="Microsoft YaHei"/>
              </a:rPr>
              <a:t>INSIGHT · 03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410450" y="5124450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EFE6"/>
                </a:solidFill>
                <a:latin typeface="Microsoft YaHei"/>
                <a:ea typeface="Microsoft YaHei"/>
              </a:rPr>
              <a:t>服务型工时</a:t>
            </a:r>
            <a:r>
              <a:rPr lang="en-US" sz="1650" b="1">
                <a:solidFill>
                  <a:srgbClr val="F5EFE6"/>
                </a:solidFill>
                <a:latin typeface="Microsoft YaHei"/>
                <a:ea typeface="Microsoft YaHei"/>
              </a:rPr>
              <a:t> 235h · </a:t>
            </a:r>
            <a:r>
              <a:rPr lang="zh-CN" sz="1650" b="1">
                <a:solidFill>
                  <a:srgbClr val="F5EFE6"/>
                </a:solidFill>
                <a:latin typeface="Microsoft YaHei"/>
                <a:ea typeface="Microsoft YaHei"/>
              </a:rPr>
              <a:t>占</a:t>
            </a:r>
            <a:r>
              <a:rPr lang="en-US" sz="1650" b="1">
                <a:solidFill>
                  <a:srgbClr val="F5EFE6"/>
                </a:solidFill>
                <a:latin typeface="Microsoft YaHei"/>
                <a:ea typeface="Microsoft YaHei"/>
              </a:rPr>
              <a:t> 37%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410450" y="5457825"/>
            <a:ext cx="4038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门迎</a:t>
            </a:r>
            <a:r>
              <a:rPr lang="en-US" sz="112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 131h + </a:t>
            </a:r>
            <a:r>
              <a:rPr lang="zh-CN" sz="112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店务</a:t>
            </a:r>
            <a:r>
              <a:rPr lang="en-US" sz="112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 104h</a:t>
            </a:r>
            <a:r>
              <a:rPr lang="zh-CN" sz="112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。这部分价值不体现在销售额里，</a:t>
            </a:r>
            <a:r>
              <a:rPr lang="en-US" sz="112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9 </a:t>
            </a:r>
            <a:r>
              <a:rPr lang="zh-CN" sz="112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月需把</a:t>
            </a:r>
            <a:r>
              <a:rPr lang="en-US" sz="1125" b="1">
                <a:solidFill>
                  <a:srgbClr val="C08A5E"/>
                </a:solidFill>
                <a:latin typeface="Microsoft YaHei"/>
                <a:ea typeface="Microsoft YaHei"/>
              </a:rPr>
              <a:t> "</a:t>
            </a:r>
            <a:r>
              <a:rPr lang="zh-CN" sz="1125" b="1">
                <a:solidFill>
                  <a:srgbClr val="C08A5E"/>
                </a:solidFill>
                <a:latin typeface="Microsoft YaHei"/>
                <a:ea typeface="Microsoft YaHei"/>
              </a:rPr>
              <a:t>服务型</a:t>
            </a:r>
            <a:r>
              <a:rPr lang="en-US" sz="1125" b="1">
                <a:solidFill>
                  <a:srgbClr val="C08A5E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C08A5E"/>
                </a:solidFill>
                <a:latin typeface="Microsoft YaHei"/>
                <a:ea typeface="Microsoft YaHei"/>
              </a:rPr>
              <a:t>与</a:t>
            </a:r>
            <a:r>
              <a:rPr lang="en-US" sz="1125" b="1">
                <a:solidFill>
                  <a:srgbClr val="C08A5E"/>
                </a:solidFill>
                <a:latin typeface="Microsoft YaHei"/>
                <a:ea typeface="Microsoft YaHei"/>
              </a:rPr>
              <a:t>"</a:t>
            </a:r>
            <a:r>
              <a:rPr lang="zh-CN" sz="1125" b="1">
                <a:solidFill>
                  <a:srgbClr val="C08A5E"/>
                </a:solidFill>
                <a:latin typeface="Microsoft YaHei"/>
                <a:ea typeface="Microsoft YaHei"/>
              </a:rPr>
              <a:t>销售型</a:t>
            </a:r>
            <a:r>
              <a:rPr lang="en-US" sz="1125" b="1">
                <a:solidFill>
                  <a:srgbClr val="C08A5E"/>
                </a:solidFill>
                <a:latin typeface="Microsoft YaHei"/>
                <a:ea typeface="Microsoft YaHei"/>
              </a:rPr>
              <a:t>" </a:t>
            </a:r>
            <a:r>
              <a:rPr lang="zh-CN" sz="112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分层评估。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71500" y="64770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安福路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Salomon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兼职管理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· 8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月复盘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210925" y="64770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5B4B"/>
                </a:solidFill>
                <a:latin typeface="Arial"/>
                <a:ea typeface="Arial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 descr="// P06 · 业绩贡献排行&#10;&lt;Slide&gt;&#10;    {/* 背景：暖砂 */}&#10;    &lt;Box style={{&#10;        position: 'absolute', left: 0, top: 0,&#10;        width: '100%', height: '100%',&#10;        background: '#F5EFE6',&#10;    }} /&gt;&#10;&#10;    {/* A 块：标题 */}&#10;    &lt;Box style={{&#10;        position: 'absolute', left: 60, top: 36, right: 60, height: 64,&#10;        flexDirection: 'row', alignItems: 'center', justifyContent: 'space-between',&#10;    }}&gt;&#10;        &lt;Text style={{&#10;            fontSize: 36, fontWeight: 'bold', color: '#3E2F23',&#10;        }}&gt;&#10;            业绩贡献排行&#10;        &lt;/Text&gt;&#10;        &lt;Text style={{&#10;            fontSize: 16, color: '#6B5B4B', letterSpacing: 4, fontWeight: 500,&#10;        }}&gt;&#10;            SALES RANKING · 12 ACTIVE&#10;        &lt;/Text&gt;&#10;    &lt;/Box&gt;&#10;&#10;    {/* 副标 */}&#10;    &lt;Text style={{&#10;        position: 'absolute', left: 60, top: 110, right: 60,&#10;        fontSize: 16, color: '#6B5B4B', lineHeight: 1.5,&#10;    }}&gt;&#10;        12 位有产出的兼职按销售额排序。头部 3 人贡献近一半，长尾产能是 9 月可释放的空间&#10;    &lt;/Text&gt;&#10;&#10;    {/* B 块：左排行 + 右集中度 */}&#10;    &lt;Box style={{&#10;        position: 'absolute', left: 60, top: 156, right: 60, height: 480,&#10;        flexDirection: 'row', gap: 24,&#10;    }}&gt;&#10;        {/* 左侧 58% 排行榜 */}&#10;        &lt;Box style={{&#10;            width: 672, height: '100%',&#10;            background: '#FFFFFF',&#10;            borderRadius: 12,&#10;            padding: 20,&#10;            flexDirection: 'column',&#10;            boxShadow: '0 4px 16px rgba(62,47,35,0.06)',&#10;        }}&gt;&#10;            &lt;Text style={{&#10;                fontSize: 18, fontWeight: 'bold', color: '#3E2F23', marginBottom: 12,&#10;            }}&gt;&#10;                销售额排行（¥）&#10;            &lt;/Text&gt;&#10;            &lt;Box style={{ flex: 1 }}&gt;&#10;                &lt;Chart&#10;                    style={{ width: '100%', height: '100%' }}&#10;                    chartType='barChart'&#10;                    barDirection='bar'&#10;                    grouping='clustered'&#10;                    showLegend={false}&#10;                    showDataLabels={true}&#10;                    dataLabelColor='#3E2F23'&#10;                    axisColor='#6B5B4B'&#10;                    colors={['#C08A5E']}&#10;                    background='transparent'&#10;                    data={[&#10;                        ['姓名', '销售额'],&#10;                        ['龚赟昊', 12688],&#10;                        ['梁实秋', 9990],&#10;                        ['王龙宇', 9242],&#10;                        ['王雅澜', 8690],&#10;                        ['孔祥宇', 7266],&#10;                        ['何秋烨', 5692],&#10;                        ['迟骋', 4486],&#10;                        ['唐蓉', 3992],&#10;                        ['贾长乐', 3394],&#10;                        ['邓奇缘', 998],&#10;                        ['杨子豪', 696],&#10;                        ['朱凯赟', 398],&#10;                    ]}&#10;                /&gt;&#10;            &lt;/Box&gt;&#10;        &lt;/Box&gt;&#10;&#10;        {/* 右侧 42% 集中度 + 品类 */}&#10;        &lt;Box style={{&#10;            flex: 1, height: '100%',&#10;            flexDirection: 'column', gap: 16,&#10;        }}&gt;&#10;            {/* 集中度卡 */}&#10;            &lt;Box style={{&#10;                flex: 1.1,&#10;                background: '#3E2F23',&#10;                borderRadius: 12,&#10;                padding: 18,&#10;                flexDirection: 'column', gap: 12,&#10;            }}&gt;&#10;                &lt;Text style={{&#10;                    fontSize: 13, color: '#C08A5E',&#10;                    letterSpacing: 2, fontWeight: 600,&#10;                }}&gt;&#10;                    CONCENTRATION&#10;                &lt;/Text&gt;&#10;                &lt;Text style={{&#10;                    fontSize: 18, fontWeight: 'bold', color: '#F5EFE6',&#10;                }}&gt;&#10;                    头部依赖度&#10;                &lt;/Text&gt;&#10;                &lt;Box style={{ flexDirection: 'column', gap: 8 }}&gt;&#10;                    &lt;Box style={{&#10;                        flexDirection: 'row', alignItems: 'center', justifyContent: 'space-between',&#10;                    }}&gt;&#10;                        &lt;Text style={{ fontSize: 14, color: 'rgba(245,239,230,0.75)' }}&gt;&#10;                            TOP 3 销售额&#10;                        &lt;/Text&gt;&#10;                        &lt;Box style={{ flexDirection: 'row', alignItems: 'baseline', gap: 6 }}&gt;&#10;                            &lt;Text style={{&#10;                                fontSize: 22, color: '#D65A3F', fontWeight: 'bold',&#10;                                fontFamily: 'Arial, Helvetica Neue, sans-serif',&#10;                            }}&gt;&#10;                                47.3%&#10;                            &lt;/Text&gt;&#10;                        &lt;/Box&gt;&#10;                    &lt;/Box&gt;&#10;                    &lt;Box style={{&#10;                        flexDirection: 'row', alignItems: 'center', justifyContent: 'space-between',&#10;                    }}&gt;&#10;                        &lt;Text style={{ fontSize: 14, color: 'rgba(245,239,230,0.75)' }}&gt;&#10;                            TOP 5 销售额&#10;                        &lt;/Text&gt;&#10;                        &lt;Text style={{&#10;                            fontSize: 22, color: '#F5EFE6', fontWeight: 'bold',&#10;                            fontFamily: 'Arial, Helvetica Neue, sans-serif',&#10;                        }}&gt;&#10;                            66.5%&#10;                        &lt;/Text&gt;&#10;                    &lt;/Box&gt;&#10;                    &lt;Box style={{&#10;                        flexDirection: 'row', alignItems: 'center', justifyContent: 'space-between',&#10;                    }}&gt;&#10;                        &lt;Text style={{ fontSize: 14, color: 'rgba(245,239,230,0.75)' }}&gt;&#10;                            尾部 5 销售额&#10;                        &lt;/Text&gt;&#10;                        &lt;Text style={{&#10;                            fontSize: 22, color: 'rgba(245,239,230,0.7)', fontWeight: 'bold',&#10;                            fontFamily: 'Arial, Helvetica Neue, sans-serif',&#10;                        }}&gt;&#10;                            3.1%&#10;                        &lt;/Text&gt;&#10;                    &lt;/Box&gt;&#10;                &lt;/Box&gt;&#10;                &lt;Text style={{&#10;                    fontSize: 13, color: 'rgba(245,239,230,0.6)', lineHeight: 1.5,&#10;                    marginTop: 4,&#10;                }}&gt;&#10;                    头部 47% 是结构而非个人；连单 / 复购 / 跨品类是释放尾部的杠杆点&#10;                &lt;/Text&gt;&#10;            &lt;/Box&gt;&#10;&#10;            {/* 品类结构卡 */}&#10;            &lt;Box style={{&#10;                flex: 0.9,&#10;                background: '#FFFFFF',&#10;                borderRadius: 12,&#10;                padding: 18,&#10;                flexDirection: 'column', gap: 8,&#10;                boxShadow: '0 4px 16px rgba(62,47,35,0.06)',&#10;            }}&gt;&#10;                &lt;Text style={{&#10;                    fontSize: 13, color: '#C08A5E',&#10;                    letterSpacing: 2, fontWeight: 600,&#10;                }}&gt;&#10;                    CATEGORY MIX&#10;                &lt;/Text&gt;&#10;                &lt;Text style={{&#10;                    fontSize: 18, fontWeight: 'bold', color: '#3E2F23',&#10;                }}&gt;&#10;                    品类销售结构&#10;                &lt;/Text&gt;&#10;                {[&#10;                    { name: '鞋履', pct: 69.6, color: '#3E2F23' },&#10;                    { name: '服装', pct: 27.8, color: '#C08A5E' },&#10;                    { name: '配件', pct: 2.6, color: '#D65A3F' },&#10;                ].map((c, i) =&gt; (&#10;                    &lt;Box key={i} style={{&#10;                        flexDirection: 'row', alignItems: 'center', gap: 12,&#10;                    }}&gt;&#10;                        &lt;Text style={{&#10;                            fontSize: 14, color: '#3E2F23', fontWeight: 500,&#10;                            width: 48,&#10;                        }}&gt;&#10;                            {c.name}&#10;                        &lt;/Text&gt;&#10;                        &lt;Box style={{&#10;                            flex: 1, height: 10,&#10;                            background: '#F5EFE6',&#10;                            borderRadius: 5,&#10;                        }}&gt;&#10;                            &lt;Box style={{&#10;                                width: `${c.pct}%`, height: '100%',&#10;                                background: c.color,&#10;                                borderRadius: 5,&#10;                            }} /&gt;&#10;                        &lt;/Box&gt;&#10;                        &lt;Text style={{&#10;                            fontSize: 14, color: '#3E2F23', fontWeight: 'bold',&#10;                            width: 48, textAlign: 'right',&#10;                            fontFamily: 'Arial, Helvetica Neue, sans-serif',&#10;                        }}&gt;&#10;                            {c.pct}%&#10;                        &lt;/Text&gt;&#10;                    &lt;/Box&gt;&#10;                ))}&#10;            &lt;/Box&gt;&#10;        &lt;/Box&gt;&#10;    &lt;/Box&gt;&#10;&#10;    {/* C 块：页脚条 */}&#10;    &lt;Box style={{&#10;        position: 'absolute', left: 60, right: 60, bottom: 20, height: 24,&#10;        flexDirection: 'row', alignItems: 'center', justifyContent: 'space-between',&#10;    }}&gt;&#10;        &lt;Text style={{ fontSize: 14, color: '#6B5B4B' }}&gt;&#10;            安福路 Salomon 兼职管理 · 8月复盘&#10;        &lt;/Text&gt;&#10;        &lt;Text style={{&#10;            fontSize: 14, color: '#6B5B4B',&#10;            fontFamily: 'Arial, Helvetica Neue, sans-serif',&#10;        }}&gt;&#10;            06 / 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FE6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3E2F23"/>
                </a:solidFill>
                <a:latin typeface="Microsoft YaHei"/>
                <a:ea typeface="Microsoft YaHei"/>
              </a:rPr>
              <a:t>业绩贡献排行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534400" y="55245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6B5B4B"/>
                </a:solidFill>
                <a:latin typeface="Microsoft YaHei"/>
                <a:ea typeface="Microsoft YaHei"/>
              </a:rPr>
              <a:t>SALES RANKING · 12 ACTIVE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71500" y="1047750"/>
            <a:ext cx="58864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12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位有产出的兼职按销售额排序。头部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 3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人贡献近一半，长尾产能是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月可释放的空间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71500" y="1485900"/>
            <a:ext cx="64008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62000" y="1676400"/>
            <a:ext cx="601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E2F23"/>
                </a:solidFill>
                <a:latin typeface="Microsoft YaHei"/>
                <a:ea typeface="Microsoft YaHei"/>
              </a:rPr>
              <a:t>销售额排行（¥）</a:t>
            </a:r>
            <a:endParaRPr/>
          </a:p>
        </p:txBody>
      </p:sp>
      <p:graphicFrame>
        <p:nvGraphicFramePr>
          <p:cNvPr id="132" name="132"/>
          <p:cNvGraphicFramePr/>
          <p:nvPr/>
        </p:nvGraphicFramePr>
        <p:xfrm rot="0" flipH="0" flipV="0">
          <a:off x="762000" y="2000250"/>
          <a:ext cx="6019800" cy="38671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33" name=""/>
          <p:cNvSpPr/>
          <p:nvPr/>
        </p:nvSpPr>
        <p:spPr>
          <a:xfrm rot="0" flipH="0" flipV="0">
            <a:off x="7200900" y="1485900"/>
            <a:ext cx="4419600" cy="2619375"/>
          </a:xfrm>
          <a:prstGeom prst="roundRect">
            <a:avLst>
              <a:gd name="adj" fmla="val 4364"/>
            </a:avLst>
          </a:prstGeom>
          <a:solidFill>
            <a:srgbClr val="3E2F23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372350" y="1657350"/>
            <a:ext cx="407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C08A5E"/>
                </a:solidFill>
                <a:latin typeface="Microsoft YaHei"/>
                <a:ea typeface="Microsoft YaHei"/>
              </a:rPr>
              <a:t>CONCENTRATION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372350" y="1924050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EFE6"/>
                </a:solidFill>
                <a:latin typeface="Microsoft YaHei"/>
                <a:ea typeface="Microsoft YaHei"/>
              </a:rPr>
              <a:t>头部依赖度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372350" y="2295525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EFE6">
                    <a:alpha val="75000"/>
                  </a:srgbClr>
                </a:solidFill>
                <a:latin typeface="Microsoft YaHei"/>
                <a:ea typeface="Microsoft YaHei"/>
              </a:rPr>
              <a:t>TOP 3 </a:t>
            </a:r>
            <a:r>
              <a:rPr lang="zh-CN" sz="1050">
                <a:solidFill>
                  <a:srgbClr val="F5EFE6">
                    <a:alpha val="75000"/>
                  </a:srgbClr>
                </a:solidFill>
                <a:latin typeface="Microsoft YaHei"/>
                <a:ea typeface="Microsoft YaHei"/>
              </a:rPr>
              <a:t>销售额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848975" y="2247900"/>
            <a:ext cx="600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65A3F"/>
                </a:solidFill>
                <a:latin typeface="Arial"/>
                <a:ea typeface="Arial"/>
              </a:rPr>
              <a:t>47.3%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372350" y="2628900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EFE6">
                    <a:alpha val="75000"/>
                  </a:srgbClr>
                </a:solidFill>
                <a:latin typeface="Microsoft YaHei"/>
                <a:ea typeface="Microsoft YaHei"/>
              </a:rPr>
              <a:t>TOP 5 </a:t>
            </a:r>
            <a:r>
              <a:rPr lang="zh-CN" sz="1050">
                <a:solidFill>
                  <a:srgbClr val="F5EFE6">
                    <a:alpha val="75000"/>
                  </a:srgbClr>
                </a:solidFill>
                <a:latin typeface="Microsoft YaHei"/>
                <a:ea typeface="Microsoft YaHei"/>
              </a:rPr>
              <a:t>销售额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848975" y="2581275"/>
            <a:ext cx="600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EFE6"/>
                </a:solidFill>
                <a:latin typeface="Arial"/>
                <a:ea typeface="Arial"/>
              </a:rPr>
              <a:t>66.5%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372350" y="29622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EFE6">
                    <a:alpha val="75000"/>
                  </a:srgbClr>
                </a:solidFill>
                <a:latin typeface="Microsoft YaHei"/>
                <a:ea typeface="Microsoft YaHei"/>
              </a:rPr>
              <a:t>尾部</a:t>
            </a:r>
            <a:r>
              <a:rPr lang="en-US" sz="1050">
                <a:solidFill>
                  <a:srgbClr val="F5EFE6">
                    <a:alpha val="75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1050">
                <a:solidFill>
                  <a:srgbClr val="F5EFE6">
                    <a:alpha val="75000"/>
                  </a:srgbClr>
                </a:solidFill>
                <a:latin typeface="Microsoft YaHei"/>
                <a:ea typeface="Microsoft YaHei"/>
              </a:rPr>
              <a:t>销售额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0963275" y="2914650"/>
            <a:ext cx="485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EFE6">
                    <a:alpha val="70000"/>
                  </a:srgbClr>
                </a:solidFill>
                <a:latin typeface="Arial"/>
                <a:ea typeface="Arial"/>
              </a:rPr>
              <a:t>3.1%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372350" y="3324225"/>
            <a:ext cx="40767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5EFE6">
                    <a:alpha val="60000"/>
                  </a:srgbClr>
                </a:solidFill>
                <a:latin typeface="Microsoft YaHei"/>
                <a:ea typeface="Microsoft YaHei"/>
              </a:rPr>
              <a:t>头部</a:t>
            </a:r>
            <a:r>
              <a:rPr lang="en-US" sz="975">
                <a:solidFill>
                  <a:srgbClr val="F5EFE6">
                    <a:alpha val="60000"/>
                  </a:srgbClr>
                </a:solidFill>
                <a:latin typeface="Microsoft YaHei"/>
                <a:ea typeface="Microsoft YaHei"/>
              </a:rPr>
              <a:t> 47% </a:t>
            </a:r>
            <a:r>
              <a:rPr lang="zh-CN" sz="975">
                <a:solidFill>
                  <a:srgbClr val="F5EFE6">
                    <a:alpha val="60000"/>
                  </a:srgbClr>
                </a:solidFill>
                <a:latin typeface="Microsoft YaHei"/>
                <a:ea typeface="Microsoft YaHei"/>
              </a:rPr>
              <a:t>是结构而非个人；连单</a:t>
            </a:r>
            <a:r>
              <a:rPr lang="en-US" sz="975">
                <a:solidFill>
                  <a:srgbClr val="F5EFE6">
                    <a:alpha val="6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F5EFE6">
                    <a:alpha val="60000"/>
                  </a:srgbClr>
                </a:solidFill>
                <a:latin typeface="Microsoft YaHei"/>
                <a:ea typeface="Microsoft YaHei"/>
              </a:rPr>
              <a:t>复购</a:t>
            </a:r>
            <a:r>
              <a:rPr lang="en-US" sz="975">
                <a:solidFill>
                  <a:srgbClr val="F5EFE6">
                    <a:alpha val="6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F5EFE6">
                    <a:alpha val="60000"/>
                  </a:srgbClr>
                </a:solidFill>
                <a:latin typeface="Microsoft YaHei"/>
                <a:ea typeface="Microsoft YaHei"/>
              </a:rPr>
              <a:t>跨品类是释放尾部的杠杆点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7200900" y="4257675"/>
            <a:ext cx="4419600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372350" y="4429125"/>
            <a:ext cx="407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C08A5E"/>
                </a:solidFill>
                <a:latin typeface="Microsoft YaHei"/>
                <a:ea typeface="Microsoft YaHei"/>
              </a:rPr>
              <a:t>CATEGORY MIX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372350" y="4657725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E2F23"/>
                </a:solidFill>
                <a:latin typeface="Microsoft YaHei"/>
                <a:ea typeface="Microsoft YaHei"/>
              </a:rPr>
              <a:t>品类销售结构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372350" y="4943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E2F23"/>
                </a:solidFill>
                <a:latin typeface="Microsoft YaHei"/>
                <a:ea typeface="Microsoft YaHei"/>
              </a:rPr>
              <a:t>鞋履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943850" y="4981575"/>
            <a:ext cx="2933700" cy="95250"/>
          </a:xfrm>
          <a:prstGeom prst="roundRect">
            <a:avLst>
              <a:gd name="adj" fmla="val 50000"/>
            </a:avLst>
          </a:prstGeom>
          <a:solidFill>
            <a:srgbClr val="F5EFE6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7943850" y="4981575"/>
            <a:ext cx="2038350" cy="95250"/>
          </a:xfrm>
          <a:prstGeom prst="roundRect">
            <a:avLst>
              <a:gd name="adj" fmla="val 50000"/>
            </a:avLst>
          </a:prstGeom>
          <a:solidFill>
            <a:srgbClr val="3E2F23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991850" y="4943475"/>
            <a:ext cx="4572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 b="1">
                <a:solidFill>
                  <a:srgbClr val="3E2F23"/>
                </a:solidFill>
                <a:latin typeface="Arial"/>
                <a:ea typeface="Arial"/>
              </a:rPr>
              <a:t>69.6</a:t>
            </a:r>
            <a:r>
              <a:rPr lang="en-US" sz="1050" b="1">
                <a:solidFill>
                  <a:srgbClr val="3E2F23"/>
                </a:solidFill>
                <a:latin typeface="Arial"/>
                <a:ea typeface="Arial"/>
              </a:rPr>
              <a:t>%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372350" y="5181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E2F23"/>
                </a:solidFill>
                <a:latin typeface="Microsoft YaHei"/>
                <a:ea typeface="Microsoft YaHei"/>
              </a:rPr>
              <a:t>服装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7943850" y="5219700"/>
            <a:ext cx="2933700" cy="95250"/>
          </a:xfrm>
          <a:prstGeom prst="roundRect">
            <a:avLst>
              <a:gd name="adj" fmla="val 50000"/>
            </a:avLst>
          </a:prstGeom>
          <a:solidFill>
            <a:srgbClr val="F5EFE6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7943850" y="5219700"/>
            <a:ext cx="819150" cy="95250"/>
          </a:xfrm>
          <a:prstGeom prst="roundRect">
            <a:avLst>
              <a:gd name="adj" fmla="val 50000"/>
            </a:avLst>
          </a:prstGeom>
          <a:solidFill>
            <a:srgbClr val="C08A5E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991850" y="5181600"/>
            <a:ext cx="4572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 b="1">
                <a:solidFill>
                  <a:srgbClr val="3E2F23"/>
                </a:solidFill>
                <a:latin typeface="Arial"/>
                <a:ea typeface="Arial"/>
              </a:rPr>
              <a:t>27.8</a:t>
            </a:r>
            <a:r>
              <a:rPr lang="en-US" sz="1050" b="1">
                <a:solidFill>
                  <a:srgbClr val="3E2F23"/>
                </a:solidFill>
                <a:latin typeface="Arial"/>
                <a:ea typeface="Arial"/>
              </a:rPr>
              <a:t>%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372350" y="54197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E2F23"/>
                </a:solidFill>
                <a:latin typeface="Microsoft YaHei"/>
                <a:ea typeface="Microsoft YaHei"/>
              </a:rPr>
              <a:t>配件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943850" y="5457825"/>
            <a:ext cx="2933700" cy="95250"/>
          </a:xfrm>
          <a:prstGeom prst="roundRect">
            <a:avLst>
              <a:gd name="adj" fmla="val 50000"/>
            </a:avLst>
          </a:prstGeom>
          <a:solidFill>
            <a:srgbClr val="F5EFE6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7943850" y="5457825"/>
            <a:ext cx="76200" cy="95250"/>
          </a:xfrm>
          <a:prstGeom prst="roundRect">
            <a:avLst>
              <a:gd name="adj" fmla="val 62500"/>
            </a:avLst>
          </a:prstGeom>
          <a:solidFill>
            <a:srgbClr val="D65A3F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991850" y="5419725"/>
            <a:ext cx="45720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 b="1">
                <a:solidFill>
                  <a:srgbClr val="3E2F23"/>
                </a:solidFill>
                <a:latin typeface="Arial"/>
                <a:ea typeface="Arial"/>
              </a:rPr>
              <a:t>2.6</a:t>
            </a:r>
            <a:r>
              <a:rPr lang="en-US" sz="1050" b="1">
                <a:solidFill>
                  <a:srgbClr val="3E2F23"/>
                </a:solidFill>
                <a:latin typeface="Arial"/>
                <a:ea typeface="Arial"/>
              </a:rPr>
              <a:t>%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71500" y="64770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安福路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Salomon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兼职管理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· 8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月复盘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210925" y="64770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5B4B"/>
                </a:solidFill>
                <a:latin typeface="Arial"/>
                <a:ea typeface="Arial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" descr="// P07 · 章节扉页 02&#10;&lt;Slide&gt;&#10;    {/* L1 主视觉：沙丘上分岔山径全幅背景 */}&#10;    &lt;Image&#10;        src=&quot;assets/fork_path.png&quot;&#10;        style={{ width: '100%', height: '100%', objectFit: 'cover' }}&#10;    /&gt;&#10;&#10;    {/* 全幅深棕蒙版 */}&#10;    &lt;Box style={{&#10;        position: 'absolute', left: 0, top: 0,&#10;        width: '100%', height: '100%',&#10;        background: 'linear-gradient(135deg, rgba(62,47,35,0.78) 0%, rgba(62,47,35,0.45) 60%, rgba(62,47,35,0.25) 100%)',&#10;    }} /&gt;&#10;&#10;    {/* 顶部章节标签 */}&#10;    &lt;Box style={{&#10;        position: 'absolute', left: 80, top: 80,&#10;        flexDirection: 'row', alignItems: 'center', gap: 20,&#10;    }}&gt;&#10;        &lt;Box style={{&#10;            width: 56, height: 2,&#10;            background: '#D65A3F',&#10;        }} /&gt;&#10;        &lt;Text style={{&#10;            fontSize: 18, color: '#D65A3F',&#10;            letterSpacing: 6, fontWeight: 600,&#10;        }}&gt;&#10;            CHAPTER · 02&#10;        &lt;/Text&gt;&#10;    &lt;/Box&gt;&#10;&#10;    {/* 中央：120px 章节编号 + 48px 副标 */}&#10;    &lt;Box style={{&#10;        position: 'absolute', left: 80, top: 200,&#10;        flexDirection: 'column', gap: 16,&#10;    }}&gt;&#10;        &lt;Text style={{&#10;            fontSize: 120, fontWeight: 'bold', color: '#F5EFE6',&#10;            lineHeight: 1.0, letterSpacing: -4,&#10;            fontFamily: 'Arial, Helvetica Neue, sans-serif',&#10;        }}&gt;&#10;            02&#10;        &lt;/Text&gt;&#10;        &lt;Text style={{&#10;            fontSize: 48, fontWeight: 'bold', color: '#F5EFE6',&#10;            lineHeight: 1.2, letterSpacing: 2,&#10;        }}&gt;&#10;            诊断与行动&#10;        &lt;/Text&gt;&#10;    &lt;/Box&gt;&#10;&#10;    {/* 底部章节要点带 */}&#10;    &lt;Box style={{&#10;        position: 'absolute', left: 80, bottom: 110,&#10;        flexDirection: 'row', alignItems: 'center', gap: 32,&#10;    }}&gt;&#10;        &lt;Text style={{&#10;            fontSize: 18, color: 'rgba(245,239,230,0.85)',&#10;            fontWeight: 500, letterSpacing: 1,&#10;        }}&gt;&#10;            3 个结构性问题&#10;        &lt;/Text&gt;&#10;        &lt;Box style={{ width: 1, height: 16, background: 'rgba(214,90,63,0.6)' }} /&gt;&#10;        &lt;Text style={{&#10;            fontSize: 18, color: 'rgba(245,239,230,0.85)',&#10;            fontWeight: 500, letterSpacing: 1,&#10;        }}&gt;&#10;            4 项 9 月行动&#10;        &lt;/Text&gt;&#10;    &lt;/Box&gt;&#10;&#10;    {/* 装饰右下英文小标 */}&#10;    &lt;Box style={{&#10;        position: 'absolute', right: 80, bottom: 80,&#10;        flexDirection: 'column', alignItems: 'flex-end', gap: 8,&#10;    }}&gt;&#10;        &lt;Text style={{&#10;            fontSize: 14, color: 'rgba(245,239,230,0.55)',&#10;            letterSpacing: 4, fontWeight: 500,&#10;        }}&gt;&#10;            DIAGNOSIS &amp; ACTION&#10;        &lt;/Text&gt;&#10;        &lt;Text style={{&#10;            fontSize: 14, color: 'rgba(245,239,230,0.4)',&#10;            fontFamily: 'Arial, Helvetica Neue, sans-serif',&#10;        }}&gt;&#10;            07 / 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"/>
          <p:cNvPicPr>
            <a:picLocks noChangeAspect="1"/>
          </p:cNvPicPr>
          <p:nvPr/>
        </p:nvPicPr>
        <p:blipFill>
          <a:blip r:embed="rId1"/>
          <a:srcRect l="0" t="10601" r="0" b="1060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E2F23">
                  <a:alpha val="78000"/>
                </a:srgbClr>
              </a:gs>
              <a:gs pos="60000">
                <a:srgbClr val="3E2F23">
                  <a:alpha val="45000"/>
                </a:srgbClr>
              </a:gs>
              <a:gs pos="100000">
                <a:srgbClr val="3E2F23">
                  <a:alpha val="2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762000" y="857250"/>
            <a:ext cx="533400" cy="19050"/>
          </a:xfrm>
          <a:prstGeom prst="rect">
            <a:avLst/>
          </a:prstGeom>
          <a:solidFill>
            <a:srgbClr val="D65A3F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485900" y="762000"/>
            <a:ext cx="1866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450">
                <a:solidFill>
                  <a:srgbClr val="D65A3F"/>
                </a:solidFill>
                <a:latin typeface="Microsoft YaHei"/>
                <a:ea typeface="Microsoft YaHei"/>
              </a:rPr>
              <a:t>CHAPTER · 02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23812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 spc="-300">
                <a:solidFill>
                  <a:srgbClr val="F5EFE6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62000" y="3429000"/>
            <a:ext cx="238125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 spc="150">
                <a:solidFill>
                  <a:srgbClr val="F5EFE6"/>
                </a:solidFill>
                <a:latin typeface="Microsoft YaHei"/>
                <a:ea typeface="Microsoft YaHei"/>
              </a:rPr>
              <a:t>诊断与行动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62000" y="5600700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3 </a:t>
            </a:r>
            <a:r>
              <a:rPr lang="zh-CN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个结构性问题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2324100" y="5629275"/>
            <a:ext cx="9525" cy="152400"/>
          </a:xfrm>
          <a:prstGeom prst="rect">
            <a:avLst/>
          </a:prstGeom>
          <a:solidFill>
            <a:srgbClr val="D65A3F">
              <a:alpha val="60000"/>
            </a:srgbClr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2638425" y="5600700"/>
            <a:ext cx="1114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4 </a:t>
            </a:r>
            <a:r>
              <a:rPr lang="zh-CN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项</a:t>
            </a:r>
            <a:r>
              <a:rPr lang="en-US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 9 </a:t>
            </a:r>
            <a:r>
              <a:rPr lang="zh-CN" sz="1350" spc="75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月行动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334500" y="56959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F5EFE6">
                    <a:alpha val="55000"/>
                  </a:srgbClr>
                </a:solidFill>
                <a:latin typeface="Microsoft YaHei"/>
                <a:ea typeface="Microsoft YaHei"/>
              </a:rPr>
              <a:t>DIAGNOSIS &amp; ACTION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020425" y="5934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EFE6">
                    <a:alpha val="40000"/>
                  </a:srgbClr>
                </a:solidFill>
                <a:latin typeface="Arial"/>
                <a:ea typeface="Arial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72" name="" descr="// P08 · 三个结构性问题&#10;&lt;Slide&gt;&#10;    {/* 背景：暖砂 */}&#10;    &lt;Box style={{&#10;        position: 'absolute', left: 0, top: 0,&#10;        width: '100%', height: '100%',&#10;        background: '#F5EFE6',&#10;    }} /&gt;&#10;&#10;    {/* A 块：标题 */}&#10;    &lt;Box style={{&#10;        position: 'absolute', left: 60, top: 36, right: 60, height: 64,&#10;        flexDirection: 'row', alignItems: 'center', justifyContent: 'space-between',&#10;    }}&gt;&#10;        &lt;Text style={{&#10;            fontSize: 36, fontWeight: 'bold', color: '#3E2F23',&#10;        }}&gt;&#10;            三个结构性问题&#10;        &lt;/Text&gt;&#10;        &lt;Text style={{&#10;            fontSize: 16, color: '#6B5B4B', letterSpacing: 4, fontWeight: 500,&#10;        }}&gt;&#10;            THREE STRUCTURAL ISSUES&#10;        &lt;/Text&gt;&#10;    &lt;/Box&gt;&#10;&#10;    {/* 副标 */}&#10;    &lt;Text style={{&#10;        position: 'absolute', left: 60, top: 110, right: 60,&#10;        fontSize: 16, color: '#6B5B4B', lineHeight: 1.5,&#10;    }}&gt;&#10;        三个问题都落在&quot;规则 / 结构&quot;层面，不指向个人，9 月可通过机制调整缓解&#10;    &lt;/Text&gt;&#10;&#10;    {/* B 块：左标题 + 右问题 */}&#10;    &lt;Box style={{&#10;        position: 'absolute', left: 60, top: 156, right: 60, height: 480,&#10;        flexDirection: 'row', gap: 36,&#10;    }}&gt;&#10;        {/* 左侧 32% 大字锚点 */}&#10;        &lt;Box style={{&#10;            width: 360, height: '100%',&#10;            flexDirection: 'column', justifyContent: 'space-between',&#10;        }}&gt;&#10;            &lt;Box&gt;&#10;                &lt;Text style={{&#10;                    fontSize: 80, fontWeight: 'bold', color: '#3E2F23',&#10;                    lineHeight: 1.0, letterSpacing: -2,&#10;                    fontFamily: 'Arial, Helvetica Neue, sans-serif',&#10;                }}&gt;&#10;                    Three&#10;                &lt;/Text&gt;&#10;                &lt;Text style={{&#10;                    fontSize: 80, fontWeight: 'bold', color: '#3E2F23',&#10;                    lineHeight: 1.0, letterSpacing: -2,&#10;                    fontFamily: 'Arial, Helvetica Neue, sans-serif',&#10;                }}&gt;&#10;                    Structural&#10;                &lt;/Text&gt;&#10;                &lt;Text style={{&#10;                    fontSize: 80, fontWeight: 'bold', color: '#D65A3F',&#10;                    lineHeight: 1.0, letterSpacing: -2,&#10;                    fontFamily: 'Arial, Helvetica Neue, sans-serif',&#10;                }}&gt;&#10;                    Issues.&#10;                &lt;/Text&gt;&#10;            &lt;/Box&gt;&#10;            &lt;Box style={{&#10;                width: 64, height: 3,&#10;                background: '#D65A3F',&#10;            }} /&gt;&#10;            &lt;Text style={{&#10;                fontSize: 16, color: '#6B5B4B', lineHeight: 1.6,&#10;            }}&gt;&#10;                三个隐藏在数据背后的&quot;结构性&quot;问题。&#10;                它们决定了 9 月行动的方向。&#10;            &lt;/Text&gt;&#10;        &lt;/Box&gt;&#10;&#10;        {/* 右侧 68% 三行问题 */}&#10;        &lt;Box style={{&#10;            flex: 1, height: '100%',&#10;            flexDirection: 'column', gap: 16,&#10;        }}&gt;&#10;            {/* 问题 1 */}&#10;            &lt;Box style={{&#10;                flex: 1,&#10;                background: '#FFFFFF',&#10;                borderRadius: 12,&#10;                padding: 20,&#10;                flexDirection: 'row', alignItems: 'center', gap: 20,&#10;                borderLeft: '5px solid #D65A3F',&#10;                boxShadow: '0 4px 16px rgba(62,47,35,0.06)',&#10;            }}&gt;&#10;                &lt;Text style={{&#10;                    fontSize: 56, fontWeight: 'bold', color: '#D65A3F',&#10;                    fontFamily: 'Arial, Helvetica Neue, sans-serif',&#10;                    width: 70, textAlign: 'center',&#10;                }}&gt;&#10;                    01&#10;                &lt;/Text&gt;&#10;                &lt;Box style={{ flex: 1 }}&gt;&#10;                    &lt;Text style={{&#10;                        fontSize: 22, fontWeight: 'bold', color: '#3E2F23',&#10;                        marginBottom: 6,&#10;                    }}&gt;&#10;                        头部依赖 47.3%&#10;                    &lt;/Text&gt;&#10;                    &lt;Text style={{&#10;                        fontSize: 15, color: '#6B5B4B', lineHeight: 1.55,&#10;                    }}&gt;&#10;                        TOP 3 销售额占总盘&#10;                        &lt;span style={{ color: '#D65A3F', fontWeight: 'bold' }}&gt; 47.3% &lt;/span&gt;&#10;                        ，TOP 5 占&#10;                        &lt;span style={{ color: '#D65A3F', fontWeight: 'bold' }}&gt; 66.5% &lt;/span&gt;&#10;                        。团队抗风险能力弱，任一头部请假/离职都会冲击整月盘子。&#10;                    &lt;/Text&gt;&#10;                &lt;/Box&gt;&#10;            &lt;/Box&gt;&#10;&#10;            {/* 问题 2 */}&#10;            &lt;Box style={{&#10;                flex: 1,&#10;                background: '#FFFFFF',&#10;                borderRadius: 12,&#10;                padding: 20,&#10;                flexDirection: 'row', alignItems: 'center', gap: 20,&#10;                borderLeft: '5px solid #C08A5E',&#10;                boxShadow: '0 4px 16px rgba(62,47,35,0.06)',&#10;            }}&gt;&#10;                &lt;Text style={{&#10;                    fontSize: 56, fontWeight: 'bold', color: '#C08A5E',&#10;                    fontFamily: 'Arial, Helvetica Neue, sans-serif',&#10;                    width: 70, textAlign: 'center',&#10;                }}&gt;&#10;                    02&#10;                &lt;/Text&gt;&#10;                &lt;Box style={{ flex: 1 }}&gt;&#10;                    &lt;Text style={{&#10;                        fontSize: 22, fontWeight: 'bold', color: '#3E2F23',&#10;                        marginBottom: 6,&#10;                    }}&gt;&#10;                        连单能力不足&#10;                    &lt;/Text&gt;&#10;                    &lt;Text style={{&#10;                        fontSize: 15, color: '#6B5B4B', lineHeight: 1.55,&#10;                    }}&gt;&#10;                        团队 UPT 仅&#10;                        &lt;span style={{ color: '#D65A3F', fontWeight: 'bold' }}&gt; 1.33 &lt;/span&gt;&#10;                        ，12 名有产出者中&#10;                        &lt;span style={{ color: '#D65A3F', fontWeight: 'bold' }}&gt; 7 人 UPT=1.00 &lt;/span&gt;&#10;                        （一单一品）。这是最大可提升空间。&#10;                    &lt;/Text&gt;&#10;                &lt;/Box&gt;&#10;            &lt;/Box&gt;&#10;&#10;            {/* 问题 3 */}&#10;            &lt;Box style={{&#10;                flex: 1,&#10;                background: '#FFFFFF',&#10;                borderRadius: 12,&#10;                padding: 20,&#10;                flexDirection: 'row', alignItems: 'center', gap: 20,&#10;                borderLeft: '5px solid #3E2F23',&#10;                boxShadow: '0 4px 16px rgba(62,47,35,0.06)',&#10;            }}&gt;&#10;                &lt;Text style={{&#10;                    fontSize: 56, fontWeight: 'bold', color: '#3E2F23',&#10;                    fontFamily: 'Arial, Helvetica Neue, sans-serif',&#10;                    width: 70, textAlign: 'center',&#10;                }}&gt;&#10;                    03&#10;                &lt;/Text&gt;&#10;                &lt;Box style={{ flex: 1 }}&gt;&#10;                    &lt;Text style={{&#10;                        fontSize: 22, fontWeight: 'bold', color: '#3E2F23',&#10;                        marginBottom: 6,&#10;                    }}&gt;&#10;                        评分门控失真&#10;                    &lt;/Text&gt;&#10;                    &lt;Text style={{&#10;                        fontSize: 15, color: '#6B5B4B', lineHeight: 1.55,&#10;                    }}&gt;&#10;                        46 票 / 12 人 = 人均&#10;                        &lt;span style={{ color: '#D65A3F', fontWeight: 'bold' }}&gt; 3.8 票 &lt;/span&gt;&#10;                        ，低于门控线 5 票，&#10;                        &lt;span style={{ color: '#D65A3F', fontWeight: 'bold' }}&gt; 10 人业绩分被压至 1 分 &lt;/span&gt;&#10;                        。业绩维度失去区分度。&#10;                    &lt;/Text&gt;&#10;                &lt;/Box&gt;&#10;            &lt;/Box&gt;&#10;        &lt;/Box&gt;&#10;    &lt;/Box&gt;&#10;&#10;    {/* C 块：页脚条 */}&#10;    &lt;Box style={{&#10;        position: 'absolute', left: 60, right: 60, bottom: 20, height: 24,&#10;        flexDirection: 'row', alignItems: 'center', justifyContent: 'space-between',&#10;    }}&gt;&#10;        &lt;Text style={{ fontSize: 14, color: '#6B5B4B' }}&gt;&#10;            安福路 Salomon 兼职管理 · 8月复盘&#10;        &lt;/Text&gt;&#10;        &lt;Text style={{&#10;            fontSize: 14, color: '#6B5B4B',&#10;            fontFamily: 'Arial, Helvetica Neue, sans-serif',&#10;        }}&gt;&#10;            08 / 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FE6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2400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3E2F23"/>
                </a:solidFill>
                <a:latin typeface="Microsoft YaHei"/>
                <a:ea typeface="Microsoft YaHei"/>
              </a:rPr>
              <a:t>三个结构性问题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553450" y="552450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6B5B4B"/>
                </a:solidFill>
                <a:latin typeface="Microsoft YaHei"/>
                <a:ea typeface="Microsoft YaHei"/>
              </a:rPr>
              <a:t>THREE STRUCTURAL ISSUES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71500" y="1047750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三个问题都落在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规则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结构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层面，不指向个人，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9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月可通过机制调整缓解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71500" y="1485900"/>
            <a:ext cx="34290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 spc="-150">
                <a:solidFill>
                  <a:srgbClr val="3E2F23"/>
                </a:solidFill>
                <a:latin typeface="Arial"/>
                <a:ea typeface="Arial"/>
              </a:rPr>
              <a:t>Three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71500" y="2400300"/>
            <a:ext cx="34290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 spc="-150">
                <a:solidFill>
                  <a:srgbClr val="3E2F23"/>
                </a:solidFill>
                <a:latin typeface="Arial"/>
                <a:ea typeface="Arial"/>
              </a:rPr>
              <a:t>Structural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71500" y="3314700"/>
            <a:ext cx="34290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 spc="-150">
                <a:solidFill>
                  <a:srgbClr val="D65A3F"/>
                </a:solidFill>
                <a:latin typeface="Arial"/>
                <a:ea typeface="Arial"/>
              </a:rPr>
              <a:t>Issues.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571500" y="4838700"/>
            <a:ext cx="609600" cy="28575"/>
          </a:xfrm>
          <a:prstGeom prst="rect">
            <a:avLst/>
          </a:prstGeom>
          <a:solidFill>
            <a:srgbClr val="D65A3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71500" y="5467350"/>
            <a:ext cx="3429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三个隐藏在数据背后的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结构性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问题。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它们决定了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月行动的方向。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391025" y="1485900"/>
            <a:ext cx="72771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391025" y="1485900"/>
            <a:ext cx="7277100" cy="1485900"/>
          </a:xfrm>
          <a:custGeom>
            <a:pathLst>
              <a:path w="764" h="15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149"/>
                </a:lnTo>
                <a:cubicBezTo>
                  <a:pt x="5" y="152"/>
                  <a:pt x="7" y="155"/>
                  <a:pt x="10" y="156"/>
                </a:cubicBezTo>
                <a:cubicBezTo>
                  <a:pt x="4" y="155"/>
                  <a:pt x="0" y="150"/>
                  <a:pt x="0" y="14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65A3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81525" y="1905000"/>
            <a:ext cx="66675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D65A3F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438775" y="1809750"/>
            <a:ext cx="5991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F23"/>
                </a:solidFill>
                <a:latin typeface="Microsoft YaHei"/>
                <a:ea typeface="Microsoft YaHei"/>
              </a:rPr>
              <a:t>头部依赖</a:t>
            </a:r>
            <a:r>
              <a:rPr lang="en-US" sz="1650" b="1">
                <a:solidFill>
                  <a:srgbClr val="3E2F23"/>
                </a:solidFill>
                <a:latin typeface="Microsoft YaHei"/>
                <a:ea typeface="Microsoft YaHei"/>
              </a:rPr>
              <a:t> 47.3%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438775" y="2124075"/>
            <a:ext cx="5991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TOP 3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销售额占总盘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47.3%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TOP 5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占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66.5%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。团队抗风险能力弱，任一头部请假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离职都会冲击整月盘子。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391025" y="3124200"/>
            <a:ext cx="7277100" cy="1295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4391025" y="3124200"/>
            <a:ext cx="7277100" cy="1295400"/>
          </a:xfrm>
          <a:custGeom>
            <a:pathLst>
              <a:path w="764" h="13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129"/>
                </a:lnTo>
                <a:cubicBezTo>
                  <a:pt x="5" y="132"/>
                  <a:pt x="7" y="135"/>
                  <a:pt x="10" y="136"/>
                </a:cubicBezTo>
                <a:cubicBezTo>
                  <a:pt x="4" y="135"/>
                  <a:pt x="0" y="130"/>
                  <a:pt x="0" y="12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08A5E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581525" y="3448050"/>
            <a:ext cx="66675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C08A5E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438775" y="3486150"/>
            <a:ext cx="5991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F23"/>
                </a:solidFill>
                <a:latin typeface="Microsoft YaHei"/>
                <a:ea typeface="Microsoft YaHei"/>
              </a:rPr>
              <a:t>连单能力不足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438775" y="3800475"/>
            <a:ext cx="59912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团队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 UPT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仅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1.33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12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名有产出者中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7 </a:t>
            </a:r>
            <a:r>
              <a:rPr lang="zh-CN" sz="1125" b="1">
                <a:solidFill>
                  <a:srgbClr val="D65A3F"/>
                </a:solidFill>
                <a:latin typeface="Microsoft YaHei"/>
                <a:ea typeface="Microsoft YaHei"/>
              </a:rPr>
              <a:t>人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UPT=1.00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（一单一品）。这是最大可提升空间。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391025" y="4572000"/>
            <a:ext cx="72771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391025" y="4572000"/>
            <a:ext cx="7277100" cy="1485900"/>
          </a:xfrm>
          <a:custGeom>
            <a:pathLst>
              <a:path w="764" h="156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149"/>
                </a:lnTo>
                <a:cubicBezTo>
                  <a:pt x="5" y="152"/>
                  <a:pt x="7" y="155"/>
                  <a:pt x="10" y="156"/>
                </a:cubicBezTo>
                <a:cubicBezTo>
                  <a:pt x="4" y="155"/>
                  <a:pt x="0" y="150"/>
                  <a:pt x="0" y="14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E2F23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581525" y="4991100"/>
            <a:ext cx="66675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3E2F23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438775" y="4895850"/>
            <a:ext cx="5991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F23"/>
                </a:solidFill>
                <a:latin typeface="Microsoft YaHei"/>
                <a:ea typeface="Microsoft YaHei"/>
              </a:rPr>
              <a:t>评分门控失真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438775" y="5210175"/>
            <a:ext cx="5991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46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票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 / 12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人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 =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人均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3.8 </a:t>
            </a:r>
            <a:r>
              <a:rPr lang="zh-CN" sz="1125" b="1">
                <a:solidFill>
                  <a:srgbClr val="D65A3F"/>
                </a:solidFill>
                <a:latin typeface="Microsoft YaHei"/>
                <a:ea typeface="Microsoft YaHei"/>
              </a:rPr>
              <a:t>票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，低于门控线</a:t>
            </a:r>
            <a:r>
              <a:rPr lang="en-US" sz="1125">
                <a:solidFill>
                  <a:srgbClr val="6B5B4B"/>
                </a:solidFill>
                <a:latin typeface="Microsoft YaHei"/>
                <a:ea typeface="Microsoft YaHei"/>
              </a:rPr>
              <a:t> 5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票，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10 </a:t>
            </a:r>
            <a:r>
              <a:rPr lang="zh-CN" sz="1125" b="1">
                <a:solidFill>
                  <a:srgbClr val="D65A3F"/>
                </a:solidFill>
                <a:latin typeface="Microsoft YaHei"/>
                <a:ea typeface="Microsoft YaHei"/>
              </a:rPr>
              <a:t>人业绩分被压至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1 </a:t>
            </a:r>
            <a:r>
              <a:rPr lang="zh-CN" sz="1125" b="1">
                <a:solidFill>
                  <a:srgbClr val="D65A3F"/>
                </a:solidFill>
                <a:latin typeface="Microsoft YaHei"/>
                <a:ea typeface="Microsoft YaHei"/>
              </a:rPr>
              <a:t>分</a:t>
            </a:r>
            <a:r>
              <a:rPr lang="en-US" sz="1125" b="1">
                <a:solidFill>
                  <a:srgbClr val="D65A3F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6B5B4B"/>
                </a:solidFill>
                <a:latin typeface="Microsoft YaHei"/>
                <a:ea typeface="Microsoft YaHei"/>
              </a:rPr>
              <a:t>。业绩维度失去区分度。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71500" y="64770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安福路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Salomon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兼职管理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· 8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月复盘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210925" y="64770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5B4B"/>
                </a:solidFill>
                <a:latin typeface="Arial"/>
                <a:ea typeface="Arial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99" name="" descr="// P09 · 9月行动建议&#10;&lt;Slide&gt;&#10;    {/* 背景：暖砂 */}&#10;    &lt;Box style={{&#10;        position: 'absolute', left: 0, top: 0,&#10;        width: '100%', height: '100%',&#10;        background: '#F5EFE6',&#10;    }} /&gt;&#10;&#10;    {/* A 块：标题 */}&#10;    &lt;Box style={{&#10;        position: 'absolute', left: 60, top: 36, right: 60, height: 64,&#10;        flexDirection: 'row', alignItems: 'center', justifyContent: 'space-between',&#10;    }}&gt;&#10;        &lt;Text style={{&#10;            fontSize: 36, fontWeight: 'bold', color: '#3E2F23',&#10;        }}&gt;&#10;            9月行动建议&#10;        &lt;/Text&gt;&#10;        &lt;Text style={{&#10;            fontSize: 16, color: '#6B5B4B', letterSpacing: 4, fontWeight: 500,&#10;        }}&gt;&#10;            SEPTEMBER ACTIONS · 4 ITEMS&#10;        &lt;/Text&gt;&#10;    &lt;/Box&gt;&#10;&#10;    {/* 副标 */}&#10;    &lt;Text style={{&#10;        position: 'absolute', left: 60, top: 110, right: 60,&#10;        fontSize: 16, color: '#6B5B4B', lineHeight: 1.5,&#10;    }}&gt;&#10;        把数据结论转译为可执行的下一步。四项行动都是&quot;低投入、可立刻上手&quot;，9 月首周前可完成规则上线&#10;    &lt;/Text&gt;&#10;&#10;    {/* B 块：左标题 + 右 2x2 行动卡 */}&#10;    &lt;Box style={{&#10;        position: 'absolute', left: 60, top: 156, right: 60, height: 480,&#10;        flexDirection: 'row', gap: 32,&#10;    }}&gt;&#10;        {/* 左侧 26% 大字锚点 */}&#10;        &lt;Box style={{&#10;            width: 290, height: '100%',&#10;            flexDirection: 'column', justifyContent: 'space-between',&#10;        }}&gt;&#10;            &lt;Box&gt;&#10;                &lt;Text style={{&#10;                    fontSize: 16, color: '#C08A5E',&#10;                    letterSpacing: 4, fontWeight: 600, marginBottom: 8,&#10;                }}&gt;&#10;                    FROM&#10;                &lt;/Text&gt;&#10;                &lt;Text style={{&#10;                    fontSize: 60, fontWeight: 'bold', color: '#3E2F23',&#10;                    lineHeight: 1.0, letterSpacing: -2,&#10;                    fontFamily: 'Arial, Helvetica Neue, sans-serif',&#10;                }}&gt;&#10;                    Data&#10;                &lt;/Text&gt;&#10;                &lt;Text style={{&#10;                    fontSize: 18, color: '#6B5B4B', marginTop: 4, marginBottom: 12,&#10;                }}&gt;&#10;                    ↓&#10;                &lt;/Text&gt;&#10;                &lt;Text style={{&#10;                    fontSize: 16, color: '#D65A3F',&#10;                    letterSpacing: 4, fontWeight: 600, marginBottom: 8,&#10;                }}&gt;&#10;                    TO&#10;                &lt;/Text&gt;&#10;                &lt;Text style={{&#10;                    fontSize: 60, fontWeight: 'bold', color: '#D65A3F',&#10;                    lineHeight: 1.0, letterSpacing: -2,&#10;                    fontFamily: 'Arial, Helvetica Neue, sans-serif',&#10;                }}&gt;&#10;                    Action.&#10;                &lt;/Text&gt;&#10;            &lt;/Box&gt;&#10;            &lt;Box style={{&#10;                width: 64, height: 3,&#10;                background: '#D65A3F',&#10;                marginTop: 16,&#10;            }} /&gt;&#10;        &lt;/Box&gt;&#10;&#10;        {/* 右侧 74% 2x2 行动卡 */}&#10;        &lt;Box style={{&#10;            flex: 1, height: '100%',&#10;            flexDirection: 'column', gap: 16,&#10;        }}&gt;&#10;            {/* 第一行 */}&#10;            &lt;Box style={{ flex: 1, flexDirection: 'row', gap: 16 }}&gt;&#10;                {/* 行动 1: 连单训练 */}&#10;                &lt;Box style={{&#10;                    flex: 1,&#10;                    background: '#3E2F23',&#10;                    borderRadius: 12,&#10;                    padding: 20,&#10;                    flexDirection: 'column', gap: 10,&#10;                }}&gt;&#10;                    &lt;Box style={{&#10;                        flexDirection: 'row', alignItems: 'center', justifyContent: 'space-between',&#10;                    }}&gt;&#10;                        &lt;Text style={{&#10;                            fontSize: 36, fontWeight: 'bold', color: '#D65A3F',&#10;                            fontFamily: 'Arial, Helvetica Neue, sans-serif',&#10;                        }}&gt;&#10;                            01&#10;                        &lt;/Text&gt;&#10;                        &lt;Text style={{&#10;                            fontSize: 12, color: 'rgba(192,138,94,0.85)',&#10;                            letterSpacing: 2, fontWeight: 600,&#10;                        }}&gt;&#10;                            CROSS-SELL&#10;                        &lt;/Text&gt;&#10;                    &lt;/Box&gt;&#10;                    &lt;Text style={{&#10;                        fontSize: 22, fontWeight: 'bold', color: '#F5EFE6',&#10;                    }}&gt;&#10;                        连单训练&#10;                    &lt;/Text&gt;&#10;                    &lt;Text style={{&#10;                        fontSize: 14, color: 'rgba(245,239,230,0.85)', lineHeight: 1.55,&#10;                    }}&gt;&#10;                        UPT 从 1.33 拉到&#10;                        &lt;span style={{ color: '#C08A5E', fontWeight: 'bold' }}&gt; 1.5 &lt;/span&gt;&#10;                        （+0.17），按 46 票 × 0.17 × ¥1,468 ≈&#10;                        &lt;span style={{ color: '#D65A3F', fontWeight: 'bold' }}&gt; ¥11,500 &lt;/span&gt;&#10;                        月度增量。&#10;                    &lt;/Text&gt;&#10;                &lt;/Box&gt;&#10;&#10;                {/* 行动 2: 岗位分层 */}&#10;                &lt;Box style={{&#10;                    flex: 1,&#10;                    background: '#FFFFFF',&#10;                    borderRadius: 12,&#10;                    padding: 20,&#10;                    flexDirection: 'column', gap: 10,&#10;                    borderLeft: '4px solid #C08A5E',&#10;                    boxShadow: '0 4px 16px rgba(62,47,35,0.06)',&#10;                }}&gt;&#10;                    &lt;Box style={{&#10;                        flexDirection: 'row', alignItems: 'center', justifyContent: 'space-between',&#10;                    }}&gt;&#10;                        &lt;Text style={{&#10;                            fontSize: 36, fontWeight: 'bold', color: '#C08A5E',&#10;                            fontFamily: 'Arial, Helvetica Neue, sans-serif',&#10;                        }}&gt;&#10;                            02&#10;                        &lt;/Text&gt;&#10;                        &lt;Text style={{&#10;                            fontSize: 12, color: '#C08A5E',&#10;                            letterSpacing: 2, fontWeight: 600,&#10;                        }}&gt;&#10;                            ROLE SPLIT&#10;                        &lt;/Text&gt;&#10;                    &lt;/Box&gt;&#10;                    &lt;Text style={{&#10;                        fontSize: 22, fontWeight: 'bold', color: '#3E2F23',&#10;                    }}&gt;&#10;                        岗位分层&#10;                    &lt;/Text&gt;&#10;                    &lt;Text style={{&#10;                        fontSize: 14, color: '#6B5B4B', lineHeight: 1.55,&#10;                    }}&gt;&#10;                        区分&#10;                        &lt;span style={{ color: '#3E2F23', fontWeight: 'bold' }}&gt; 销售型 &lt;/span&gt;&#10;                        与&#10;                        &lt;span style={{ color: '#C08A5E', fontWeight: 'bold' }}&gt; 服务型 &lt;/span&gt;&#10;                        ；服务型以&quot;好评 + 门迎 + 店务&quot;为价值评估。&#10;                    &lt;/Text&gt;&#10;                &lt;/Box&gt;&#10;            &lt;/Box&gt;&#10;&#10;            {/* 第二行 */}&#10;            &lt;Box style={{ flex: 1, flexDirection: 'row', gap: 16 }}&gt;&#10;                {/* 行动 3: 评分校准 */}&#10;                &lt;Box style={{&#10;                    flex: 1,&#10;                    background: '#FFFFFF',&#10;                    borderRadius: 12,&#10;                    padding: 20,&#10;                    flexDirection: 'column', gap: 10,&#10;                    borderLeft: '4px solid #3E2F23',&#10;                    boxShadow: '0 4px 16px rgba(62,47,35,0.06)',&#10;                }}&gt;&#10;                    &lt;Box style={{&#10;                        flexDirection: 'row', alignItems: 'center', justifyContent: 'space-between',&#10;                    }}&gt;&#10;                        &lt;Text style={{&#10;                            fontSize: 36, fontWeight: 'bold', color: '#3E2F23',&#10;                            fontFamily: 'Arial, Helvetica Neue, sans-serif',&#10;                        }}&gt;&#10;                            03&#10;                        &lt;/Text&gt;&#10;                        &lt;Text style={{&#10;                            fontSize: 12, color: '#3E2F23',&#10;                            letterSpacing: 2, fontWeight: 600,&#10;                        }}&gt;&#10;                            SCORING FIX&#10;                        &lt;/Text&gt;&#10;                    &lt;/Box&gt;&#10;                    &lt;Text style={{&#10;                        fontSize: 22, fontWeight: 'bold', color: '#3E2F23',&#10;                    }}&gt;&#10;                        评分校准&#10;                    &lt;/Text&gt;&#10;                    &lt;Text style={{&#10;                        fontSize: 14, color: '#6B5B4B', lineHeight: 1.55,&#10;                    }}&gt;&#10;                        门控线&#10;                        &lt;span style={{ color: '#3E2F23', fontWeight: 'bold' }}&gt; 5 票 → 3 票 &lt;/span&gt;&#10;                        ，或改为&quot;按工时折算票效&quot;，恢复业绩维度区分度。&#10;                    &lt;/Text&gt;&#10;                &lt;/Box&gt;&#10;&#10;                {/* 行动 4: 供班锁定 */}&#10;                &lt;Box style={{&#10;                    flex: 1,&#10;                    background: '#FFFFFF',&#10;                    borderRadius: 12,&#10;                    padding: 20,&#10;                    flexDirection: 'column', gap: 10,&#10;                    borderLeft: '4px solid #D65A3F',&#10;                    boxShadow: '0 4px 16px rgba(62,47,35,0.06)',&#10;                }}&gt;&#10;                    &lt;Box style={{&#10;                        flexDirection: 'row', alignItems: 'center', justifyContent: 'space-between',&#10;                    }}&gt;&#10;                        &lt;Text style={{&#10;                            fontSize: 36, fontWeight: 'bold', color: '#D65A3F',&#10;                            fontFamily: 'Arial, Helvetica Neue, sans-serif',&#10;                        }}&gt;&#10;                            04&#10;                        &lt;/Text&gt;&#10;                        &lt;Text style={{&#10;                            fontSize: 12, color: '#D65A3F',&#10;                            letterSpacing: 2, fontWeight: 600,&#10;                        }}&gt;&#10;                            SCHEDULING&#10;                        &lt;/Text&gt;&#10;                    &lt;/Box&gt;&#10;                    &lt;Text style={{&#10;                        fontSize: 22, fontWeight: 'bold', color: '#3E2F23',&#10;                    }}&gt;&#10;                        供班锁定&#10;                    &lt;/Text&gt;&#10;                    &lt;Text style={{&#10;                        fontSize: 14, color: '#6B5B4B', lineHeight: 1.55,&#10;                    }}&gt;&#10;                        9 月排班提前一周敲定；满勤 6/6 周人员享受&#10;                        &lt;span style={{ color: '#D65A3F', fontWeight: 'bold' }}&gt; 优先排班权 &lt;/span&gt;&#10;                        。&#10;                    &lt;/Text&gt;&#10;                &lt;/Box&gt;&#10;            &lt;/Box&gt;&#10;        &lt;/Box&gt;&#10;    &lt;/Box&gt;&#10;&#10;    {/* C 块：页脚条 */}&#10;    &lt;Box style={{&#10;        position: 'absolute', left: 60, right: 60, bottom: 20, height: 24,&#10;        flexDirection: 'row', alignItems: 'center', justifyContent: 'space-between',&#10;    }}&gt;&#10;        &lt;Text style={{ fontSize: 14, color: '#6B5B4B' }}&gt;&#10;            安福路 Salomon 兼职管理 · 8月复盘&#10;        &lt;/Text&gt;&#10;        &lt;Text style={{&#10;            fontSize: 14, color: '#6B5B4B',&#10;            fontFamily: 'Arial, Helvetica Neue, sans-serif',&#10;        }}&gt;&#10;            09 / 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FE6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71500" y="438150"/>
            <a:ext cx="1914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E2F23"/>
                </a:solidFill>
                <a:latin typeface="Microsoft YaHei"/>
                <a:ea typeface="Microsoft YaHei"/>
              </a:rPr>
              <a:t>9</a:t>
            </a:r>
            <a:r>
              <a:rPr lang="zh-CN" sz="2700" b="1">
                <a:solidFill>
                  <a:srgbClr val="3E2F23"/>
                </a:solidFill>
                <a:latin typeface="Microsoft YaHei"/>
                <a:ea typeface="Microsoft YaHei"/>
              </a:rPr>
              <a:t>月行动建议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201025" y="552450"/>
            <a:ext cx="3419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6B5B4B"/>
                </a:solidFill>
                <a:latin typeface="Microsoft YaHei"/>
                <a:ea typeface="Microsoft YaHei"/>
              </a:rPr>
              <a:t>SEPTEMBER ACTIONS · 4 ITEMS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71500" y="1047750"/>
            <a:ext cx="67913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把数据结论转译为可执行的下一步。四项行动都是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低投入、可立刻上手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6B5B4B"/>
                </a:solidFill>
                <a:latin typeface="Microsoft YaHei"/>
                <a:ea typeface="Microsoft YaHei"/>
              </a:rPr>
              <a:t>9 </a:t>
            </a:r>
            <a:r>
              <a:rPr lang="zh-CN" sz="1200">
                <a:solidFill>
                  <a:srgbClr val="6B5B4B"/>
                </a:solidFill>
                <a:latin typeface="Microsoft YaHei"/>
                <a:ea typeface="Microsoft YaHei"/>
              </a:rPr>
              <a:t>月首周前可完成规则上线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71500" y="14859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C08A5E"/>
                </a:solidFill>
                <a:latin typeface="Microsoft YaHei"/>
                <a:ea typeface="Microsoft YaHei"/>
              </a:rPr>
              <a:t>FROM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71500" y="1752600"/>
            <a:ext cx="27622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 spc="-150">
                <a:solidFill>
                  <a:srgbClr val="3E2F23"/>
                </a:solidFill>
                <a:latin typeface="Arial"/>
                <a:ea typeface="Arial"/>
              </a:rPr>
              <a:t>Data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71500" y="2476500"/>
            <a:ext cx="2762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6B5B4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71500" y="280035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D65A3F"/>
                </a:solidFill>
                <a:latin typeface="Microsoft YaHei"/>
                <a:ea typeface="Microsoft YaHei"/>
              </a:rPr>
              <a:t>TO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71500" y="3067050"/>
            <a:ext cx="276225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 spc="-150">
                <a:solidFill>
                  <a:srgbClr val="D65A3F"/>
                </a:solidFill>
                <a:latin typeface="Arial"/>
                <a:ea typeface="Arial"/>
              </a:rPr>
              <a:t>Action.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571500" y="6029325"/>
            <a:ext cx="609600" cy="28575"/>
          </a:xfrm>
          <a:prstGeom prst="rect">
            <a:avLst/>
          </a:prstGeom>
          <a:solidFill>
            <a:srgbClr val="D65A3F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3638550" y="1485900"/>
            <a:ext cx="3914775" cy="2209800"/>
          </a:xfrm>
          <a:prstGeom prst="roundRect">
            <a:avLst>
              <a:gd name="adj" fmla="val 5172"/>
            </a:avLst>
          </a:prstGeom>
          <a:solidFill>
            <a:srgbClr val="3E2F23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829050" y="1676400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D65A3F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429375" y="1819275"/>
            <a:ext cx="933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08A5E">
                    <a:alpha val="85000"/>
                  </a:srgbClr>
                </a:solidFill>
                <a:latin typeface="Microsoft YaHei"/>
                <a:ea typeface="Microsoft YaHei"/>
              </a:rPr>
              <a:t>CROSS-SELL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829050" y="2190750"/>
            <a:ext cx="3533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EFE6"/>
                </a:solidFill>
                <a:latin typeface="Microsoft YaHei"/>
                <a:ea typeface="Microsoft YaHei"/>
              </a:rPr>
              <a:t>连单训练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829050" y="2543175"/>
            <a:ext cx="35337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UPT </a:t>
            </a:r>
            <a:r>
              <a:rPr lang="zh-CN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 1.33 </a:t>
            </a:r>
            <a:r>
              <a:rPr lang="zh-CN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拉到</a:t>
            </a:r>
            <a:r>
              <a:rPr lang="en-US" sz="1050" b="1">
                <a:solidFill>
                  <a:srgbClr val="C08A5E"/>
                </a:solidFill>
                <a:latin typeface="Microsoft YaHei"/>
                <a:ea typeface="Microsoft YaHei"/>
              </a:rPr>
              <a:t> 1.5 </a:t>
            </a:r>
            <a:r>
              <a:rPr lang="zh-CN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+0.17</a:t>
            </a:r>
            <a:r>
              <a:rPr lang="zh-CN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），按</a:t>
            </a:r>
            <a:r>
              <a:rPr lang="en-US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 46 </a:t>
            </a:r>
            <a:r>
              <a:rPr lang="zh-CN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票</a:t>
            </a:r>
            <a:r>
              <a:rPr lang="en-US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 × 0.17 × ¥1,468 ≈</a:t>
            </a:r>
            <a:r>
              <a:rPr lang="en-US" sz="1050" b="1">
                <a:solidFill>
                  <a:srgbClr val="D65A3F"/>
                </a:solidFill>
                <a:latin typeface="Microsoft YaHei"/>
                <a:ea typeface="Microsoft YaHei"/>
              </a:rPr>
              <a:t> ¥11,500 </a:t>
            </a:r>
            <a:r>
              <a:rPr lang="zh-CN" sz="105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月度增量。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7743825" y="1485900"/>
            <a:ext cx="391477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7743825" y="1485900"/>
            <a:ext cx="3914775" cy="2209800"/>
          </a:xfrm>
          <a:custGeom>
            <a:pathLst>
              <a:path w="411" h="23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24"/>
                </a:lnTo>
                <a:cubicBezTo>
                  <a:pt x="4" y="228"/>
                  <a:pt x="7" y="231"/>
                  <a:pt x="10" y="232"/>
                </a:cubicBezTo>
                <a:cubicBezTo>
                  <a:pt x="4" y="231"/>
                  <a:pt x="0" y="226"/>
                  <a:pt x="0" y="22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C08A5E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934325" y="1676400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C08A5E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563225" y="1819275"/>
            <a:ext cx="866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08A5E"/>
                </a:solidFill>
                <a:latin typeface="Microsoft YaHei"/>
                <a:ea typeface="Microsoft YaHei"/>
              </a:rPr>
              <a:t>ROLE SPLIT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934325" y="2190750"/>
            <a:ext cx="3495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F23"/>
                </a:solidFill>
                <a:latin typeface="Microsoft YaHei"/>
                <a:ea typeface="Microsoft YaHei"/>
              </a:rPr>
              <a:t>岗位分层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934325" y="2543175"/>
            <a:ext cx="34956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区分</a:t>
            </a:r>
            <a:r>
              <a:rPr lang="en-US" sz="1050" b="1">
                <a:solidFill>
                  <a:srgbClr val="3E2F23"/>
                </a:solidFill>
                <a:latin typeface="Microsoft YaHei"/>
                <a:ea typeface="Microsoft YaHei"/>
              </a:rPr>
              <a:t> </a:t>
            </a:r>
            <a:r>
              <a:rPr lang="zh-CN" sz="1050" b="1">
                <a:solidFill>
                  <a:srgbClr val="3E2F23"/>
                </a:solidFill>
                <a:latin typeface="Microsoft YaHei"/>
                <a:ea typeface="Microsoft YaHei"/>
              </a:rPr>
              <a:t>销售型</a:t>
            </a:r>
            <a:r>
              <a:rPr lang="en-US" sz="1050" b="1">
                <a:solidFill>
                  <a:srgbClr val="3E2F23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与</a:t>
            </a:r>
            <a:r>
              <a:rPr lang="en-US" sz="1050" b="1">
                <a:solidFill>
                  <a:srgbClr val="C08A5E"/>
                </a:solidFill>
                <a:latin typeface="Microsoft YaHei"/>
                <a:ea typeface="Microsoft YaHei"/>
              </a:rPr>
              <a:t> </a:t>
            </a:r>
            <a:r>
              <a:rPr lang="zh-CN" sz="1050" b="1">
                <a:solidFill>
                  <a:srgbClr val="C08A5E"/>
                </a:solidFill>
                <a:latin typeface="Microsoft YaHei"/>
                <a:ea typeface="Microsoft YaHei"/>
              </a:rPr>
              <a:t>服务型</a:t>
            </a:r>
            <a:r>
              <a:rPr lang="en-US" sz="1050" b="1">
                <a:solidFill>
                  <a:srgbClr val="C08A5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；服务型以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好评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门迎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店务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为价值评估。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3676650" y="3848100"/>
            <a:ext cx="391477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3676650" y="3848100"/>
            <a:ext cx="3914775" cy="2209800"/>
          </a:xfrm>
          <a:custGeom>
            <a:pathLst>
              <a:path w="411" h="23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24"/>
                </a:lnTo>
                <a:cubicBezTo>
                  <a:pt x="4" y="228"/>
                  <a:pt x="7" y="231"/>
                  <a:pt x="10" y="232"/>
                </a:cubicBezTo>
                <a:cubicBezTo>
                  <a:pt x="4" y="231"/>
                  <a:pt x="0" y="226"/>
                  <a:pt x="0" y="22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E2F23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867150" y="4038600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3E2F23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400800" y="4181475"/>
            <a:ext cx="962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3E2F23"/>
                </a:solidFill>
                <a:latin typeface="Microsoft YaHei"/>
                <a:ea typeface="Microsoft YaHei"/>
              </a:rPr>
              <a:t>SCORING FIX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867150" y="4552950"/>
            <a:ext cx="3495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F23"/>
                </a:solidFill>
                <a:latin typeface="Microsoft YaHei"/>
                <a:ea typeface="Microsoft YaHei"/>
              </a:rPr>
              <a:t>评分校准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67150" y="4905375"/>
            <a:ext cx="34956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门控线</a:t>
            </a:r>
            <a:r>
              <a:rPr lang="en-US" sz="1050" b="1">
                <a:solidFill>
                  <a:srgbClr val="3E2F23"/>
                </a:solidFill>
                <a:latin typeface="Microsoft YaHei"/>
                <a:ea typeface="Microsoft YaHei"/>
              </a:rPr>
              <a:t> 5 </a:t>
            </a:r>
            <a:r>
              <a:rPr lang="zh-CN" sz="1050" b="1">
                <a:solidFill>
                  <a:srgbClr val="3E2F23"/>
                </a:solidFill>
                <a:latin typeface="Microsoft YaHei"/>
                <a:ea typeface="Microsoft YaHei"/>
              </a:rPr>
              <a:t>票</a:t>
            </a:r>
            <a:r>
              <a:rPr lang="en-US" sz="1050" b="1">
                <a:solidFill>
                  <a:srgbClr val="3E2F23"/>
                </a:solidFill>
                <a:latin typeface="Microsoft YaHei"/>
                <a:ea typeface="Microsoft YaHei"/>
              </a:rPr>
              <a:t> → 3 </a:t>
            </a:r>
            <a:r>
              <a:rPr lang="zh-CN" sz="1050" b="1">
                <a:solidFill>
                  <a:srgbClr val="3E2F23"/>
                </a:solidFill>
                <a:latin typeface="Microsoft YaHei"/>
                <a:ea typeface="Microsoft YaHei"/>
              </a:rPr>
              <a:t>票</a:t>
            </a:r>
            <a:r>
              <a:rPr lang="en-US" sz="1050" b="1">
                <a:solidFill>
                  <a:srgbClr val="3E2F23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，或改为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按工时折算票效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，恢复业绩维度区分度。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7743825" y="3848100"/>
            <a:ext cx="3914775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3E2F23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7743825" y="3848100"/>
            <a:ext cx="3914775" cy="2209800"/>
          </a:xfrm>
          <a:custGeom>
            <a:pathLst>
              <a:path w="411" h="23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24"/>
                </a:lnTo>
                <a:cubicBezTo>
                  <a:pt x="4" y="228"/>
                  <a:pt x="7" y="231"/>
                  <a:pt x="10" y="232"/>
                </a:cubicBezTo>
                <a:cubicBezTo>
                  <a:pt x="4" y="231"/>
                  <a:pt x="0" y="226"/>
                  <a:pt x="0" y="22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65A3F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934325" y="4038600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D65A3F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0477500" y="4181475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D65A3F"/>
                </a:solidFill>
                <a:latin typeface="Microsoft YaHei"/>
                <a:ea typeface="Microsoft YaHei"/>
              </a:rPr>
              <a:t>SCHEDULING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934325" y="4552950"/>
            <a:ext cx="3495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E2F23"/>
                </a:solidFill>
                <a:latin typeface="Microsoft YaHei"/>
                <a:ea typeface="Microsoft YaHei"/>
              </a:rPr>
              <a:t>供班锁定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934325" y="4905375"/>
            <a:ext cx="349567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9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月排班提前一周敲定；满勤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6/6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周人员享受</a:t>
            </a:r>
            <a:r>
              <a:rPr lang="en-US" sz="1050" b="1">
                <a:solidFill>
                  <a:srgbClr val="D65A3F"/>
                </a:solidFill>
                <a:latin typeface="Microsoft YaHei"/>
                <a:ea typeface="Microsoft YaHei"/>
              </a:rPr>
              <a:t> </a:t>
            </a:r>
            <a:r>
              <a:rPr lang="zh-CN" sz="1050" b="1">
                <a:solidFill>
                  <a:srgbClr val="D65A3F"/>
                </a:solidFill>
                <a:latin typeface="Microsoft YaHei"/>
                <a:ea typeface="Microsoft YaHei"/>
              </a:rPr>
              <a:t>优先排班权</a:t>
            </a:r>
            <a:r>
              <a:rPr lang="en-US" sz="1050" b="1">
                <a:solidFill>
                  <a:srgbClr val="D65A3F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71500" y="64770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安福路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Salomon 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兼职管理</a:t>
            </a:r>
            <a:r>
              <a:rPr lang="en-US" sz="1050">
                <a:solidFill>
                  <a:srgbClr val="6B5B4B"/>
                </a:solidFill>
                <a:latin typeface="Microsoft YaHei"/>
                <a:ea typeface="Microsoft YaHei"/>
              </a:rPr>
              <a:t> · 8</a:t>
            </a:r>
            <a:r>
              <a:rPr lang="zh-CN" sz="1050">
                <a:solidFill>
                  <a:srgbClr val="6B5B4B"/>
                </a:solidFill>
                <a:latin typeface="Microsoft YaHei"/>
                <a:ea typeface="Microsoft YaHei"/>
              </a:rPr>
              <a:t>月复盘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210925" y="64770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5B4B"/>
                </a:solidFill>
                <a:latin typeface="Arial"/>
                <a:ea typeface="Arial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 descr="// P10 · 结束页&#10;&lt;Slide&gt;&#10;    {/* L1 主视觉：复用封面图 + 深色蒙版 */}&#10;    &lt;Image&#10;        src=&quot;assets/cover_ridge.png&quot;&#10;        style={{ width: '100%', height: '100%', objectFit: 'cover' }}&#10;    /&gt;&#10;&#10;    {/* 全幅深棕蒙版，更深 */}&#10;    &lt;Box style={{&#10;        position: 'absolute', left: 0, top: 0,&#10;        width: '100%', height: '100%',&#10;        background: 'linear-gradient(135deg, rgba(36,28,22,0.78) 0%, rgba(62,47,35,0.65) 50%, rgba(36,28,22,0.78) 100%)',&#10;    }} /&gt;&#10;&#10;    {/* 顶部小角标 */}&#10;    &lt;Box style={{&#10;        position: 'absolute', left: 80, top: 80,&#10;        flexDirection: 'row', alignItems: 'center', gap: 16,&#10;    }}&gt;&#10;        &lt;Box style={{&#10;            width: 48, height: 2,&#10;            background: '#D65A3F',&#10;        }} /&gt;&#10;        &lt;Text style={{&#10;            fontSize: 16, color: '#D65A3F',&#10;            letterSpacing: 6, fontWeight: 600,&#10;        }}&gt;&#10;            END OF REVIEW&#10;        &lt;/Text&gt;&#10;    &lt;/Box&gt;&#10;&#10;    {/* 居中金句 */}&#10;    &lt;Box style={{&#10;        position: 'absolute', left: 0, right: 0, top: 240,&#10;        alignItems: 'center',&#10;    }}&gt;&#10;        &lt;Text style={{&#10;            fontSize: 96, fontWeight: 'bold', color: '#F5EFE6',&#10;            lineHeight: 1.1, letterSpacing: 4,&#10;            textAlign: 'center',&#10;        }}&gt;&#10;            九月 · 再出发&#10;        &lt;/Text&gt;&#10;        &lt;Text style={{&#10;            fontSize: 28, color: 'rgba(245,239,230,0.85)',&#10;            marginTop: 24, letterSpacing: 8, fontWeight: 500,&#10;            textAlign: 'center',&#10;        }}&gt;&#10;            8 月打烊，9 月开张&#10;        &lt;/Text&gt;&#10;    &lt;/Box&gt;&#10;&#10;    {/* 中下装饰分隔线 */}&#10;    &lt;Box style={{&#10;        position: 'absolute', left: 560, top: 460,&#10;        width: 160, height: 2,&#10;        background: '#C08A5E',&#10;    }} /&gt;&#10;&#10;    {/* 底部落款 */}&#10;    &lt;Box style={{&#10;        position: 'absolute', left: 0, right: 0, bottom: 110,&#10;        alignItems: 'center',&#10;    }}&gt;&#10;        &lt;Text style={{&#10;            fontSize: 18, color: 'rgba(245,239,230,0.7)',&#10;            letterSpacing: 4, fontWeight: 500,&#10;        }}&gt;&#10;            安福路 SALOMON · STORE L140&#10;        &lt;/Text&gt;&#10;        &lt;Text style={{&#10;            fontSize: 14, color: 'rgba(245,239,230,0.5)',&#10;            letterSpacing: 2, marginTop: 8,&#10;        }}&gt;&#10;            8月兼职表现总结 · 2026&#10;        &lt;/Text&gt;&#10;    &lt;/Box&gt;&#10;&#10;    {/* 右下小角标 */}&#10;    &lt;Text style={{&#10;        position: 'absolute', right: 60, bottom: 36,&#10;        fontSize: 14, color: 'rgba(245,239,230,0.4)',&#10;        fontFamily: 'Arial, Helvetica Neue, sans-serif',&#10;    }}&gt;&#10;        10 / 10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>
            <a:picLocks noChangeAspect="1"/>
          </p:cNvPicPr>
          <p:nvPr/>
        </p:nvPicPr>
        <p:blipFill>
          <a:blip r:embed="rId1"/>
          <a:srcRect l="0" t="10601" r="0" b="1060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41C16">
                  <a:alpha val="78000"/>
                </a:srgbClr>
              </a:gs>
              <a:gs pos="50000">
                <a:srgbClr val="3E2F23">
                  <a:alpha val="65000"/>
                </a:srgbClr>
              </a:gs>
              <a:gs pos="100000">
                <a:srgbClr val="241C16">
                  <a:alpha val="7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762000" y="847725"/>
            <a:ext cx="457200" cy="19050"/>
          </a:xfrm>
          <a:prstGeom prst="rect">
            <a:avLst/>
          </a:prstGeom>
          <a:solidFill>
            <a:srgbClr val="D65A3F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371600" y="762000"/>
            <a:ext cx="1971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450">
                <a:solidFill>
                  <a:srgbClr val="D65A3F"/>
                </a:solidFill>
                <a:latin typeface="Microsoft YaHei"/>
                <a:ea typeface="Microsoft YaHei"/>
              </a:rPr>
              <a:t>END OF REVIEW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248025" y="2286000"/>
            <a:ext cx="5695950" cy="1209675"/>
          </a:xfrm>
          <a:prstGeom prst="rect"/>
        </p:spPr>
        <p:txBody>
          <a:bodyPr wrap="none" lIns="0" tIns="0" rIns="0" bIns="0"/>
          <a:p>
            <a:pPr algn="ctr">
              <a:lnSpc>
                <a:spcPct val="110000"/>
              </a:lnSpc>
            </a:pPr>
            <a:r>
              <a:rPr lang="zh-CN" sz="7200" b="1" spc="300">
                <a:solidFill>
                  <a:srgbClr val="F5EFE6"/>
                </a:solidFill>
                <a:latin typeface="Microsoft YaHei"/>
                <a:ea typeface="Microsoft YaHei"/>
              </a:rPr>
              <a:t>九月</a:t>
            </a:r>
            <a:r>
              <a:rPr lang="en-US" sz="7200" b="1" spc="300">
                <a:solidFill>
                  <a:srgbClr val="F5EFE6"/>
                </a:solidFill>
                <a:latin typeface="Microsoft YaHei"/>
                <a:ea typeface="Microsoft YaHei"/>
              </a:rPr>
              <a:t> · </a:t>
            </a:r>
            <a:r>
              <a:rPr lang="zh-CN" sz="7200" b="1" spc="300">
                <a:solidFill>
                  <a:srgbClr val="F5EFE6"/>
                </a:solidFill>
                <a:latin typeface="Microsoft YaHei"/>
                <a:ea typeface="Microsoft YaHei"/>
              </a:rPr>
              <a:t>再出发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524375" y="3724275"/>
            <a:ext cx="3152775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100" spc="60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8 </a:t>
            </a:r>
            <a:r>
              <a:rPr lang="zh-CN" sz="2100" spc="60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月打烊，</a:t>
            </a:r>
            <a:r>
              <a:rPr lang="en-US" sz="2100" spc="60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9 </a:t>
            </a:r>
            <a:r>
              <a:rPr lang="zh-CN" sz="2100" spc="600">
                <a:solidFill>
                  <a:srgbClr val="F5EFE6">
                    <a:alpha val="85000"/>
                  </a:srgbClr>
                </a:solidFill>
                <a:latin typeface="Microsoft YaHei"/>
                <a:ea typeface="Microsoft YaHei"/>
              </a:rPr>
              <a:t>月开张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334000" y="4381500"/>
            <a:ext cx="1524000" cy="19050"/>
          </a:xfrm>
          <a:prstGeom prst="rect">
            <a:avLst/>
          </a:prstGeom>
          <a:solidFill>
            <a:srgbClr val="C08A5E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343400" y="5362575"/>
            <a:ext cx="3514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300">
                <a:solidFill>
                  <a:srgbClr val="F5EFE6">
                    <a:alpha val="70000"/>
                  </a:srgbClr>
                </a:solidFill>
                <a:latin typeface="Microsoft YaHei"/>
                <a:ea typeface="Microsoft YaHei"/>
              </a:rPr>
              <a:t>安福路</a:t>
            </a:r>
            <a:r>
              <a:rPr lang="en-US" sz="1350" spc="300">
                <a:solidFill>
                  <a:srgbClr val="F5EFE6">
                    <a:alpha val="70000"/>
                  </a:srgbClr>
                </a:solidFill>
                <a:latin typeface="Microsoft YaHei"/>
                <a:ea typeface="Microsoft YaHei"/>
              </a:rPr>
              <a:t> SALOMON · STORE L140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238750" y="564832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F5EFE6">
                    <a:alpha val="50000"/>
                  </a:srgbClr>
                </a:solidFill>
                <a:latin typeface="Microsoft YaHei"/>
                <a:ea typeface="Microsoft YaHei"/>
              </a:rPr>
              <a:t>8</a:t>
            </a:r>
            <a:r>
              <a:rPr lang="zh-CN" sz="1050" spc="150">
                <a:solidFill>
                  <a:srgbClr val="F5EFE6">
                    <a:alpha val="50000"/>
                  </a:srgbClr>
                </a:solidFill>
                <a:latin typeface="Microsoft YaHei"/>
                <a:ea typeface="Microsoft YaHei"/>
              </a:rPr>
              <a:t>月兼职表现总结</a:t>
            </a:r>
            <a:r>
              <a:rPr lang="en-US" sz="1050" spc="150">
                <a:solidFill>
                  <a:srgbClr val="F5EFE6">
                    <a:alpha val="50000"/>
                  </a:srgbClr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210925" y="63531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5EFE6">
                    <a:alpha val="40000"/>
                  </a:srgbClr>
                </a:solidFill>
                <a:latin typeface="Arial"/>
                <a:ea typeface="Arial"/>
              </a:rPr>
              <a:t>10 / 10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2026-09-01T03:24:30Z</dcterms:created>
  <dcterms:modified xsi:type="dcterms:W3CDTF">2026-09-01T03:24:30Z</dcterms:modified>
</cp:coreProperties>
</file>