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Salomon 安福路旗舰店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兼职团队 6月 月度总结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2026年6月 · Service Team 月度复盘与表彰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2026年7月 · 安福路 L140</a:t>
            </a:r>
          </a:p>
        </p:txBody>
      </p:sp>
      <p:sp>
        <p:nvSpPr>
          <p:cNvPr id="7" name="Oval 6"/>
          <p:cNvSpPr/>
          <p:nvPr/>
        </p:nvSpPr>
        <p:spPr>
          <a:xfrm>
            <a:off x="9875520" y="731520"/>
            <a:ext cx="1371600" cy="1371600"/>
          </a:xfrm>
          <a:prstGeom prst="ellipse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5029200"/>
            <a:ext cx="1097280" cy="1097280"/>
          </a:xfrm>
          <a:prstGeom prst="ellipse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44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系统简介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55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兼职管理系统功能概览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219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6月兼职情况总览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328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关键数据与整体表现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99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表现评分 TOP 3 表彰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101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综合表现前三名奖励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9476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67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76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表现评分关注分析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87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后三名原因分析与改进方向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5537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业绩达标表扬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64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时产 &amp; UPT KPI 达成者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349240"/>
            <a:ext cx="548640" cy="54864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22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330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Microsoft YaHei"/>
              </a:defRPr>
            </a:pPr>
            <a:r>
              <a:t>人员变动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41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7月团队调整与新成员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01  系统简介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Salomon 安福路兼职团队管理系统 —— 数据驱动的兼职管理一体化平台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工作台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数据概览 · 快捷操作</a:t>
            </a:r>
            <a:br/>
            <a:r>
              <a:t>团队分布 · 近期动态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468880" cy="54864"/>
          </a:xfrm>
          <a:prstGeom prst="roundRect">
            <a:avLst/>
          </a:prstGeom>
          <a:solidFill>
            <a:srgbClr val="836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我的填报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可上班时间 · 换班登记</a:t>
            </a:r>
            <a:br/>
            <a:r>
              <a:t>店务支援 · 门迎排班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01168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2011680"/>
            <a:ext cx="24688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人员管理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兼职档案 · 部门筛选</a:t>
            </a:r>
            <a:br/>
            <a:r>
              <a:t>入职/离职管理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01168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23960" y="2011680"/>
            <a:ext cx="24688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供班总览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周达标分析 · 排班总览</a:t>
            </a:r>
            <a:br/>
            <a:r>
              <a:t>逐日填写 · 备注支持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6052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160520"/>
            <a:ext cx="2468880" cy="5486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考勤记录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灵工打卡 · 实时考勤</a:t>
            </a:r>
            <a:br/>
            <a:r>
              <a:t>迟到/缺卡自动识别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16052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29000" y="4160520"/>
            <a:ext cx="2468880" cy="54864"/>
          </a:xfrm>
          <a:prstGeom prst="round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表现评分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5维度评分 · 时薪联动</a:t>
            </a:r>
            <a:br/>
            <a:r>
              <a:t>工时/业绩/行为/考勤/好评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16052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6480" y="4160520"/>
            <a:ext cx="24688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业绩数据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销售排行 · 时产UPT</a:t>
            </a:r>
            <a:br/>
            <a:r>
              <a:t>KPI达标 · 综合对比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4160520"/>
            <a:ext cx="24688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23960" y="4160520"/>
            <a:ext cx="2468880" cy="54864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大众点评5星好评</a:t>
            </a:r>
            <a:br/>
            <a:r>
              <a:t>关键词云 · 原文展示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02  6月兼职情况总览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¥293,250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6月总销售额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6032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1,625.5h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总出勤工时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56032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13人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Service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560320" cy="1371600"/>
          </a:xfrm>
          <a:prstGeom prst="roundRect">
            <a:avLst/>
          </a:prstGeom>
          <a:solidFill>
            <a:srgbClr val="836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团队平均 UPT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Microsoft YaHei"/>
              </a:defRPr>
            </a:pPr>
            <a:r>
              <a:t>关键运营指标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657600"/>
            <a:ext cx="9144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门迎排班：覆盖整月，日均10+班次，门迎总时长超过300小时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160520"/>
            <a:ext cx="9144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顾客好评：大众点评5星好评10条，涉及4名兼职（迟骋4条/朱凯赟2条/杨子豪2条/陈昕媛1条/李若彤1条）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9144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考勤异常：迟到3人次（迟骋/王靳毓/李若彤×2），旷工1人次（李若彤6/6取消）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166360"/>
            <a:ext cx="91440" cy="9144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供班达标率：多数成员每周供班4天+周末1天达标，王龙宇因出差19-30日供班严重不足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趋势对比：4月 ¥407,876 → 5月 ¥440,577 → 6月 ¥293,250（6月因人员调整及排班减少，总销售有所下降）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03  表现评分 TOP 3 表彰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综合表现评分 = 工时支持 + 销售业绩 + 行为规范 + 考勤纪律 + 顾客好评（5维度平均）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4754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🥇  第1名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孔祥宇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59E0B"/>
                </a:solidFill>
                <a:latin typeface="Microsoft YaHei"/>
              </a:defRPr>
            </a:pPr>
            <a:r>
              <a:t>3.78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2918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奖金 ¥480元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9776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3977640"/>
            <a:ext cx="109728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2519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4251960"/>
            <a:ext cx="123444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5262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4526280"/>
            <a:ext cx="1207008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480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4.4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8006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0" y="4800600"/>
            <a:ext cx="13716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50749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5074920"/>
            <a:ext cx="27432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表现亮点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6875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18天出勤127.5h，全勤无异常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9161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销售¥22,959，UPT 1.77（全队并列第一）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61447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服装连带率极高：服装占比35.7%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3733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6309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工时、考勤、业绩三维度均≥4分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66019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6537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门迎20h+店务12.7h，行为排名#3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1737360"/>
            <a:ext cx="3657600" cy="4754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43400" y="1737360"/>
            <a:ext cx="3657600" cy="7315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  <a:latin typeface="Microsoft YaHei"/>
              </a:defRPr>
            </a:pPr>
            <a:r>
              <a:t>🥈  第2名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迟骋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94A3B8"/>
                </a:solidFill>
                <a:latin typeface="Microsoft YaHei"/>
              </a:defRPr>
            </a:pPr>
            <a:r>
              <a:t>3.6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6280" y="3017520"/>
            <a:ext cx="3291840" cy="4572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081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奖金 ¥360元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9776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3977640"/>
            <a:ext cx="1097280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42519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4251960"/>
            <a:ext cx="960120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icrosoft YaHei"/>
              </a:defRPr>
            </a:pPr>
            <a:r>
              <a:t>3.5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45262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89320" y="4526280"/>
            <a:ext cx="822960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4480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1772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89320" y="48006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89320" y="4800600"/>
            <a:ext cx="1097280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0664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77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50749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89320" y="5074920"/>
            <a:ext cx="960120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icrosoft YaHei"/>
              </a:defRPr>
            </a:pPr>
            <a:r>
              <a:t>3.5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表现亮点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0" y="5687568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15天出勤109.5h，UPT 2.13（全队第一！）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5916168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0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大众点评好评4条（全队最多）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6144768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好评维度3.5分，拉高综合评分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6373368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54880" y="6309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门迎16.5h+店务6.5h，积极参与团队工作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0" y="6601968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6537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建议提升时产（当前¥142.3/h）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1737360"/>
            <a:ext cx="3657600" cy="4754880"/>
          </a:xfrm>
          <a:prstGeom prst="round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138160" y="1737360"/>
            <a:ext cx="3657600" cy="73152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D7F32"/>
                </a:solidFill>
                <a:latin typeface="Microsoft YaHei"/>
              </a:defRPr>
            </a:pPr>
            <a:r>
              <a:t>🥉  第3名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朱凯赟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2416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CD7F32"/>
                </a:solidFill>
                <a:latin typeface="Microsoft YaHei"/>
              </a:defRPr>
            </a:pPr>
            <a:r>
              <a:t>3.6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3856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321040" y="3017520"/>
            <a:ext cx="3291840" cy="4572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21040" y="3081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奖金 ¥240元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39776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784080" y="3977640"/>
            <a:ext cx="1097280" cy="1371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20140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D7F3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784080" y="42519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784080" y="4251960"/>
            <a:ext cx="822960" cy="1371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0140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D7F3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84080" y="45262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84080" y="4526280"/>
            <a:ext cx="960120" cy="1371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01400" y="4480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D7F32"/>
                </a:solidFill>
                <a:latin typeface="Microsoft YaHei"/>
              </a:defRPr>
            </a:pPr>
            <a:r>
              <a:t>3.5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8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8006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84080" y="4800600"/>
            <a:ext cx="1371600" cy="1371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0140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D7F3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124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784080" y="50749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84080" y="5074920"/>
            <a:ext cx="685800" cy="1371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0140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D7F32"/>
                </a:solidFill>
                <a:latin typeface="Microsoft YaHei"/>
              </a:defRPr>
            </a:pPr>
            <a:r>
              <a:t>2.5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210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表现亮点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66760" y="5687568"/>
            <a:ext cx="54864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4964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14天出勤105.5h，UPT 1.50（优秀）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66760" y="5916168"/>
            <a:ext cx="54864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49640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大众点评好评2条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66760" y="6144768"/>
            <a:ext cx="54864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4964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考勤满分5分，全勤无异常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66760" y="6373368"/>
            <a:ext cx="54864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49640" y="6309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服装连带能力出色（服装占比39%）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66760" y="6601968"/>
            <a:ext cx="54864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49640" y="6537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建议提升时产和销售总量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04  表现评分后三位 · 关注与改进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以下三位综合评分较低，需要重点关注并制定改进计划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4572000"/>
          </a:xfrm>
          <a:prstGeom prst="round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1F44"/>
                </a:solidFill>
                <a:latin typeface="Microsoft YaHei"/>
              </a:defRPr>
            </a:pPr>
            <a:r>
              <a:t>邓奇缘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74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第13名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Microsoft YaHei"/>
              </a:defRPr>
            </a:pPr>
            <a:r>
              <a:t>3.3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2461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60" y="3246120"/>
            <a:ext cx="123444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5204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3520440"/>
            <a:ext cx="54864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474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7947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4560" y="3794760"/>
            <a:ext cx="109728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749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0690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4069080"/>
            <a:ext cx="137160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43434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4343400"/>
            <a:ext cx="27432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问题分析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96519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9194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销售业绩 2.0分（最低项）：时产¥116.4/h，不达标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1266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2669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鞋履占比90.7%，品类过于单一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6013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144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17天出勤137.5h但销售仅¥16,005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760720"/>
            <a:ext cx="3383280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653D"/>
                </a:solidFill>
                <a:latin typeface="Microsoft YaHei"/>
              </a:defRPr>
            </a:pPr>
            <a:r>
              <a:t>建议：拓展服装和配件产品知识，提升连带销售能力；UPT 1.25已达标，时产是主要瓶颈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1645920"/>
            <a:ext cx="3657600" cy="4572000"/>
          </a:xfrm>
          <a:prstGeom prst="round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43400" y="1645920"/>
            <a:ext cx="36576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1F44"/>
                </a:solidFill>
                <a:latin typeface="Microsoft YaHei"/>
              </a:defRPr>
            </a:pPr>
            <a:r>
              <a:t>李若彤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874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第12名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Microsoft YaHei"/>
              </a:defRPr>
            </a:pPr>
            <a:r>
              <a:t>3.24 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2461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9320" y="3246120"/>
            <a:ext cx="123444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4.5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35204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89320" y="3520440"/>
            <a:ext cx="109728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474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7947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3794760"/>
            <a:ext cx="1289304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3749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4.7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40690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4069080"/>
            <a:ext cx="27432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43434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89320" y="4343400"/>
            <a:ext cx="54864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262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问题分析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496519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49194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考勤纪律 1分（最低项）：旷工1次+迟到2次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531266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52669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6/6排班取消=旷工(-2)，6/11+6/30迟到(-2)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566013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56144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其余4维度均≥4分，考勤是唯一短板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80560" y="5760720"/>
            <a:ext cx="3383280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653D"/>
                </a:solidFill>
                <a:latin typeface="Microsoft YaHei"/>
              </a:defRPr>
            </a:pPr>
            <a:r>
              <a:t>建议：考勤是唯一短板！加强排班确认，避免取消/迟到。其余维度表现优秀（业绩4分/行为4.7分）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38160" y="1645920"/>
            <a:ext cx="3657600" cy="4572000"/>
          </a:xfrm>
          <a:prstGeom prst="round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138160" y="1645920"/>
            <a:ext cx="36576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1F44"/>
                </a:solidFill>
                <a:latin typeface="Microsoft YaHei"/>
              </a:defRPr>
            </a:pPr>
            <a:r>
              <a:t>王龙宇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1874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第11名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Microsoft YaHei"/>
              </a:defRPr>
            </a:pPr>
            <a:r>
              <a:t>2.5 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维度评分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工时支持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84080" y="324612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84080" y="3246120"/>
            <a:ext cx="41148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0140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销售业绩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84080" y="352044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84080" y="3520440"/>
            <a:ext cx="54864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01400" y="3474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行为规范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84080" y="379476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84080" y="3794760"/>
            <a:ext cx="8229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01400" y="3749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考勤纪律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84080" y="406908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784080" y="4069080"/>
            <a:ext cx="137160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0140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顾客好评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784080" y="4343400"/>
            <a:ext cx="13716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84080" y="4343400"/>
            <a:ext cx="27432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0140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问题分析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66760" y="496519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49194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工时支持 1.5分：4周供班未达标，出勤严重不足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66760" y="531266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9640" y="52669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销售业绩 2.0分：时产¥93.2/h，不达标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66760" y="566013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9640" y="56144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6月仅出勤8天/58.5h（19-30日出差请假）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75320" y="5760720"/>
            <a:ext cx="3383280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36676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653D"/>
                </a:solidFill>
                <a:latin typeface="Microsoft YaHei"/>
              </a:defRPr>
            </a:pPr>
            <a:r>
              <a:t>建议：7月恢复全勤后重点观察供班和时产表现；出差期间供班缺口已由其他成员补位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05  业绩达标表扬 · 盲盒奖励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5486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653D"/>
                </a:solidFill>
                <a:latin typeface="Microsoft YaHei"/>
              </a:defRPr>
            </a:pPr>
            <a:r>
              <a:t>KPI 达标标准：时产 ≥ ¥210/h  且  UPT ≥ 1.25  ——  达成者获得盲盒奖励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3017520" cy="4114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30175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🎁 盲盒奖励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杨子豪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销售额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83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¥35,502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时产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¥287.5/h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UPT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23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1.32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484632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919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🏆 时产全队第一，销售冠军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653D"/>
                </a:solidFill>
                <a:latin typeface="Microsoft YaHei"/>
              </a:defRPr>
            </a:pPr>
            <a:r>
              <a:t>好评 +2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103120"/>
            <a:ext cx="3017520" cy="4114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2103120"/>
            <a:ext cx="30175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🎁 盲盒奖励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王靳毓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销售额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383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¥26,228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时产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¥227.1/h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UPT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023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1.47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84632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919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🏆 UPT表现优秀，连带能力强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103120"/>
            <a:ext cx="3017520" cy="4114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5280" y="2103120"/>
            <a:ext cx="30175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🎁 盲盒奖励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李若彤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销售额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383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¥32,500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时产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¥243.4/h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UPT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023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Microsoft YaHei"/>
              </a:defRPr>
            </a:pPr>
            <a:r>
              <a:t>1.35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84632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4919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🏆 销量+UPT双达标，稳定输出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653D"/>
                </a:solidFill>
                <a:latin typeface="Microsoft YaHei"/>
              </a:defRPr>
            </a:pPr>
            <a:r>
              <a:t>好评 +1 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注：6月共13人参与销售统计，仅3人同时达成时产≥210/h 且 UPT≥1.25 的双KPI标准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44"/>
                </a:solidFill>
                <a:latin typeface="Microsoft YaHei"/>
              </a:defRPr>
            </a:pPr>
            <a:r>
              <a:t>05  业绩数据全景 · 差一点也值得鼓励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以下兼职在时产或UPT单项表现突出，距离双达标仅一步之遥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996696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姓名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901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销售额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时产(¥/h)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UPT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901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时产状态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01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UPT状态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01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亮点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99669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13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孔祥宇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¥22,959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134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¥180.1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313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13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13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UPT全队前列，时产需提升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51760"/>
            <a:ext cx="9966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24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迟骋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2724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¥15,586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7249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¥142.3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724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724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724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UPT全队前列，时产需提升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63240"/>
            <a:ext cx="99669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36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朱凯赟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3136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¥16,856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136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¥159.8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136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1363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1363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136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UPT达标，时产差¥50即达标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474720"/>
            <a:ext cx="9966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陈昕媛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¥34,360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547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¥246.3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547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547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547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3547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时产达标，UPT差0.17即达标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886200"/>
            <a:ext cx="99669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959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王雅澜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20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¥33,466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¥283.6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3959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3959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3959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39593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时产达标，UPT差0.02即达标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297680"/>
            <a:ext cx="9966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370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何秋烨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20" y="4370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¥19,536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370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¥186.1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4370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0680" y="4370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4370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UPT全队前列，时产需提升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709160"/>
            <a:ext cx="99669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4782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龚赟昊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74520" y="4782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¥25,858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6120" y="4782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¥219.1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80" y="4782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40680" y="4782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29400" y="4782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4782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时产达标，UPT差0.11即达标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5120640"/>
            <a:ext cx="9966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193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邓奇缘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7452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¥16,005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612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¥116.4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6280" y="5193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1937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29400" y="51937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51937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UPT达标，时产差¥94即达标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532120"/>
            <a:ext cx="99669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5605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王龙宇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4520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¥5,450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56052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¥93.2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80" y="5605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80" y="56052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❌ 未达标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56052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✅ 达标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605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UPT达标，时产差¥117即达标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分析：时产达标但UPT未达标 → 需提升连带销售能力；UPT达标但时产未达标 → 需提升客单价或增加高峰时段排班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Microsoft YaHei"/>
              </a:defRPr>
            </a:pPr>
            <a:r>
              <a:t>06  7月人员变动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7月起团队结构调整，恭喜、欢迎、期待！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E293B"/>
                </a:solidFill>
                <a:latin typeface="Microsoft YaHei"/>
              </a:defRPr>
            </a:pPr>
            <a:r>
              <a:t>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兼职 → 全职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转正晋升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陈昕媛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恭喜陈昕媛正式转为全职员工！</a:t>
            </a:r>
            <a:br/>
            <a:br/>
            <a:r>
              <a:t>6月综合评分3.5分（全队#4），18天出勤139.5h，销售¥34,360，时产¥246.3/h（KPI达标），门迎19.5h，大众点评好评1条。</a:t>
            </a:r>
            <a:br/>
            <a:br/>
            <a:r>
              <a:t>从1月入职以来持续稳定输出，实力获得认可。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74720" cy="43891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E293B"/>
                </a:solidFill>
                <a:latin typeface="Microsoft YaHei"/>
              </a:defRPr>
            </a:pPr>
            <a:r>
              <a:t>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606040"/>
            <a:ext cx="2011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新加入 Service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新成员加入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Microsoft YaHei"/>
              </a:defRPr>
            </a:pPr>
            <a:r>
              <a:t>唐蓉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欢迎唐蓉加入 Service Team！</a:t>
            </a:r>
            <a:br/>
            <a:br/>
            <a:r>
              <a:t>作为7月新成员，将参与门店日常服务、销售、门迎等全链路工作。</a:t>
            </a:r>
            <a:br/>
            <a:br/>
            <a:r>
              <a:t>期待在新环境中快速成长，融入团队文化。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828800"/>
            <a:ext cx="3474720" cy="43891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828800"/>
            <a:ext cx="34747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E293B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60604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仓库兼职 → Service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岗位调整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玛依拉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玛依拉从仓库兼职转入 Service Team！</a:t>
            </a:r>
            <a:br/>
            <a:br/>
            <a:r>
              <a:t>凭借在仓库岗位的出色表现和积极态度，获得转入前场服务团队的机会。</a:t>
            </a:r>
            <a:br/>
            <a:br/>
            <a:r>
              <a:t>期待在前场继续发光发热，拓展新的能力边界。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感谢每一位的付出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7月，一起继续冲！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Salomon 安福路旗舰店 L140 · Service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2026年7月</a:t>
            </a:r>
          </a:p>
        </p:txBody>
      </p:sp>
      <p:sp>
        <p:nvSpPr>
          <p:cNvPr id="7" name="Oval 6"/>
          <p:cNvSpPr/>
          <p:nvPr/>
        </p:nvSpPr>
        <p:spPr>
          <a:xfrm>
            <a:off x="9875520" y="731520"/>
            <a:ext cx="1371600" cy="1371600"/>
          </a:xfrm>
          <a:prstGeom prst="ellipse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5029200"/>
            <a:ext cx="1097280" cy="1097280"/>
          </a:xfrm>
          <a:prstGeom prst="ellipse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